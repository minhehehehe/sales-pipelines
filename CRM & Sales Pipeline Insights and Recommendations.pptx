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nter Bold" charset="1" panose="020B0802030000000004"/>
      <p:regular r:id="rId17"/>
    </p:embeddedFont>
    <p:embeddedFont>
      <p:font typeface="Inter" charset="1" panose="020B050203000000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jpeg" Type="http://schemas.openxmlformats.org/officeDocument/2006/relationships/image"/><Relationship Id="rId20" Target="../media/image1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2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2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15" Target="../media/image4.png" Type="http://schemas.openxmlformats.org/officeDocument/2006/relationships/image"/><Relationship Id="rId16" Target="../media/image5.svg" Type="http://schemas.openxmlformats.org/officeDocument/2006/relationships/image"/><Relationship Id="rId17" Target="../media/image27.png" Type="http://schemas.openxmlformats.org/officeDocument/2006/relationships/image"/><Relationship Id="rId18" Target="../media/image28.svg" Type="http://schemas.openxmlformats.org/officeDocument/2006/relationships/image"/><Relationship Id="rId19" Target="../media/image29.png" Type="http://schemas.openxmlformats.org/officeDocument/2006/relationships/image"/><Relationship Id="rId2" Target="../media/image1.jpeg" Type="http://schemas.openxmlformats.org/officeDocument/2006/relationships/image"/><Relationship Id="rId20" Target="../media/image30.sv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505350" y="6889299"/>
            <a:ext cx="3674431" cy="1173235"/>
          </a:xfrm>
          <a:custGeom>
            <a:avLst/>
            <a:gdLst/>
            <a:ahLst/>
            <a:cxnLst/>
            <a:rect r="r" b="b" t="t" l="l"/>
            <a:pathLst>
              <a:path h="1173235" w="3674431">
                <a:moveTo>
                  <a:pt x="0" y="0"/>
                </a:moveTo>
                <a:lnTo>
                  <a:pt x="3674430" y="0"/>
                </a:lnTo>
                <a:lnTo>
                  <a:pt x="3674430"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108152" y="2041812"/>
            <a:ext cx="3674431" cy="1173235"/>
          </a:xfrm>
          <a:custGeom>
            <a:avLst/>
            <a:gdLst/>
            <a:ahLst/>
            <a:cxnLst/>
            <a:rect r="r" b="b" t="t" l="l"/>
            <a:pathLst>
              <a:path h="1173235" w="3674431">
                <a:moveTo>
                  <a:pt x="0" y="0"/>
                </a:moveTo>
                <a:lnTo>
                  <a:pt x="3674431" y="0"/>
                </a:lnTo>
                <a:lnTo>
                  <a:pt x="3674431" y="1173234"/>
                </a:lnTo>
                <a:lnTo>
                  <a:pt x="0" y="11732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513598" y="4992638"/>
            <a:ext cx="13617684" cy="1276781"/>
          </a:xfrm>
          <a:prstGeom prst="rect">
            <a:avLst/>
          </a:prstGeom>
        </p:spPr>
        <p:txBody>
          <a:bodyPr anchor="t" rtlCol="false" tIns="0" lIns="0" bIns="0" rIns="0">
            <a:spAutoFit/>
          </a:bodyPr>
          <a:lstStyle/>
          <a:p>
            <a:pPr algn="ctr">
              <a:lnSpc>
                <a:spcPts val="9311"/>
              </a:lnSpc>
            </a:pPr>
            <a:r>
              <a:rPr lang="en-US" b="true" sz="10012" spc="-740">
                <a:solidFill>
                  <a:srgbClr val="000000"/>
                </a:solidFill>
                <a:latin typeface="Inter Bold"/>
                <a:ea typeface="Inter Bold"/>
                <a:cs typeface="Inter Bold"/>
                <a:sym typeface="Inter Bold"/>
              </a:rPr>
              <a:t>CRM &amp; SALES PIPELINE</a:t>
            </a:r>
          </a:p>
        </p:txBody>
      </p:sp>
      <p:sp>
        <p:nvSpPr>
          <p:cNvPr name="Freeform 6" id="6"/>
          <p:cNvSpPr/>
          <p:nvPr/>
        </p:nvSpPr>
        <p:spPr>
          <a:xfrm flipH="false" flipV="false" rot="0">
            <a:off x="6892776" y="3987634"/>
            <a:ext cx="1356362" cy="374849"/>
          </a:xfrm>
          <a:custGeom>
            <a:avLst/>
            <a:gdLst/>
            <a:ahLst/>
            <a:cxnLst/>
            <a:rect r="r" b="b" t="t" l="l"/>
            <a:pathLst>
              <a:path h="374849" w="1356362">
                <a:moveTo>
                  <a:pt x="0" y="0"/>
                </a:moveTo>
                <a:lnTo>
                  <a:pt x="1356361" y="0"/>
                </a:lnTo>
                <a:lnTo>
                  <a:pt x="1356361" y="374849"/>
                </a:lnTo>
                <a:lnTo>
                  <a:pt x="0" y="3748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9441583" y="6651924"/>
            <a:ext cx="950345" cy="474751"/>
          </a:xfrm>
          <a:custGeom>
            <a:avLst/>
            <a:gdLst/>
            <a:ahLst/>
            <a:cxnLst/>
            <a:rect r="r" b="b" t="t" l="l"/>
            <a:pathLst>
              <a:path h="474751" w="950345">
                <a:moveTo>
                  <a:pt x="0" y="0"/>
                </a:moveTo>
                <a:lnTo>
                  <a:pt x="950345" y="0"/>
                </a:lnTo>
                <a:lnTo>
                  <a:pt x="950345" y="474751"/>
                </a:lnTo>
                <a:lnTo>
                  <a:pt x="0" y="4747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525519" y="2261525"/>
            <a:ext cx="953521" cy="953521"/>
          </a:xfrm>
          <a:custGeom>
            <a:avLst/>
            <a:gdLst/>
            <a:ahLst/>
            <a:cxnLst/>
            <a:rect r="r" b="b" t="t" l="l"/>
            <a:pathLst>
              <a:path h="953521" w="953521">
                <a:moveTo>
                  <a:pt x="0" y="0"/>
                </a:moveTo>
                <a:lnTo>
                  <a:pt x="953521" y="0"/>
                </a:lnTo>
                <a:lnTo>
                  <a:pt x="953521" y="953521"/>
                </a:lnTo>
                <a:lnTo>
                  <a:pt x="0" y="9535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5400000">
            <a:off x="7903795" y="6982521"/>
            <a:ext cx="542287" cy="676703"/>
          </a:xfrm>
          <a:custGeom>
            <a:avLst/>
            <a:gdLst/>
            <a:ahLst/>
            <a:cxnLst/>
            <a:rect r="r" b="b" t="t" l="l"/>
            <a:pathLst>
              <a:path h="676703" w="542287">
                <a:moveTo>
                  <a:pt x="0" y="0"/>
                </a:moveTo>
                <a:lnTo>
                  <a:pt x="542287" y="0"/>
                </a:lnTo>
                <a:lnTo>
                  <a:pt x="542287" y="676703"/>
                </a:lnTo>
                <a:lnTo>
                  <a:pt x="0" y="67670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9322440" y="2681136"/>
            <a:ext cx="546691" cy="1093381"/>
          </a:xfrm>
          <a:custGeom>
            <a:avLst/>
            <a:gdLst/>
            <a:ahLst/>
            <a:cxnLst/>
            <a:rect r="r" b="b" t="t" l="l"/>
            <a:pathLst>
              <a:path h="1093381" w="546691">
                <a:moveTo>
                  <a:pt x="0" y="0"/>
                </a:moveTo>
                <a:lnTo>
                  <a:pt x="546691" y="0"/>
                </a:lnTo>
                <a:lnTo>
                  <a:pt x="546691" y="1093381"/>
                </a:lnTo>
                <a:lnTo>
                  <a:pt x="0" y="109338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567220" y="439320"/>
            <a:ext cx="548421" cy="273213"/>
          </a:xfrm>
          <a:custGeom>
            <a:avLst/>
            <a:gdLst/>
            <a:ahLst/>
            <a:cxnLst/>
            <a:rect r="r" b="b" t="t" l="l"/>
            <a:pathLst>
              <a:path h="273213" w="548421">
                <a:moveTo>
                  <a:pt x="0" y="0"/>
                </a:moveTo>
                <a:lnTo>
                  <a:pt x="548421" y="0"/>
                </a:lnTo>
                <a:lnTo>
                  <a:pt x="548421" y="273213"/>
                </a:lnTo>
                <a:lnTo>
                  <a:pt x="0" y="27321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17581773" y="402247"/>
            <a:ext cx="347360" cy="347360"/>
          </a:xfrm>
          <a:custGeom>
            <a:avLst/>
            <a:gdLst/>
            <a:ahLst/>
            <a:cxnLst/>
            <a:rect r="r" b="b" t="t" l="l"/>
            <a:pathLst>
              <a:path h="347360" w="347360">
                <a:moveTo>
                  <a:pt x="0" y="0"/>
                </a:moveTo>
                <a:lnTo>
                  <a:pt x="347360" y="0"/>
                </a:lnTo>
                <a:lnTo>
                  <a:pt x="347360" y="347360"/>
                </a:lnTo>
                <a:lnTo>
                  <a:pt x="0" y="34736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17448245" y="9423242"/>
            <a:ext cx="267056" cy="267056"/>
          </a:xfrm>
          <a:custGeom>
            <a:avLst/>
            <a:gdLst/>
            <a:ahLst/>
            <a:cxnLst/>
            <a:rect r="r" b="b" t="t" l="l"/>
            <a:pathLst>
              <a:path h="267056" w="267056">
                <a:moveTo>
                  <a:pt x="0" y="0"/>
                </a:moveTo>
                <a:lnTo>
                  <a:pt x="267056" y="0"/>
                </a:lnTo>
                <a:lnTo>
                  <a:pt x="267056" y="267057"/>
                </a:lnTo>
                <a:lnTo>
                  <a:pt x="0" y="26705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4" id="14"/>
          <p:cNvSpPr txBox="true"/>
          <p:nvPr/>
        </p:nvSpPr>
        <p:spPr>
          <a:xfrm rot="0">
            <a:off x="1028700" y="9481697"/>
            <a:ext cx="1408589" cy="213454"/>
          </a:xfrm>
          <a:prstGeom prst="rect">
            <a:avLst/>
          </a:prstGeom>
        </p:spPr>
        <p:txBody>
          <a:bodyPr anchor="t" rtlCol="false" tIns="0" lIns="0" bIns="0" rIns="0">
            <a:spAutoFit/>
          </a:bodyPr>
          <a:lstStyle/>
          <a:p>
            <a:pPr algn="l">
              <a:lnSpc>
                <a:spcPts val="1531"/>
              </a:lnSpc>
            </a:pPr>
            <a:r>
              <a:rPr lang="en-US" sz="1802" spc="-133">
                <a:solidFill>
                  <a:srgbClr val="000000"/>
                </a:solidFill>
                <a:latin typeface="Inter"/>
                <a:ea typeface="Inter"/>
                <a:cs typeface="Inter"/>
                <a:sym typeface="Inter"/>
              </a:rPr>
              <a:t>Presented by:</a:t>
            </a:r>
          </a:p>
        </p:txBody>
      </p:sp>
      <p:sp>
        <p:nvSpPr>
          <p:cNvPr name="TextBox 15" id="15"/>
          <p:cNvSpPr txBox="true"/>
          <p:nvPr/>
        </p:nvSpPr>
        <p:spPr>
          <a:xfrm rot="0">
            <a:off x="2437289" y="9481697"/>
            <a:ext cx="1479365" cy="213454"/>
          </a:xfrm>
          <a:prstGeom prst="rect">
            <a:avLst/>
          </a:prstGeom>
        </p:spPr>
        <p:txBody>
          <a:bodyPr anchor="t" rtlCol="false" tIns="0" lIns="0" bIns="0" rIns="0">
            <a:spAutoFit/>
          </a:bodyPr>
          <a:lstStyle/>
          <a:p>
            <a:pPr algn="l">
              <a:lnSpc>
                <a:spcPts val="1531"/>
              </a:lnSpc>
            </a:pPr>
            <a:r>
              <a:rPr lang="en-US" sz="1802" spc="-133" b="true">
                <a:solidFill>
                  <a:srgbClr val="000000"/>
                </a:solidFill>
                <a:latin typeface="Inter Bold"/>
                <a:ea typeface="Inter Bold"/>
                <a:cs typeface="Inter Bold"/>
                <a:sym typeface="Inter Bold"/>
              </a:rPr>
              <a:t>Minh Hy</a:t>
            </a:r>
          </a:p>
        </p:txBody>
      </p:sp>
      <p:sp>
        <p:nvSpPr>
          <p:cNvPr name="AutoShape 16" id="16"/>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567220" y="439320"/>
            <a:ext cx="548421" cy="273213"/>
          </a:xfrm>
          <a:custGeom>
            <a:avLst/>
            <a:gdLst/>
            <a:ahLst/>
            <a:cxnLst/>
            <a:rect r="r" b="b" t="t" l="l"/>
            <a:pathLst>
              <a:path h="273213" w="548421">
                <a:moveTo>
                  <a:pt x="0" y="0"/>
                </a:moveTo>
                <a:lnTo>
                  <a:pt x="548421" y="0"/>
                </a:lnTo>
                <a:lnTo>
                  <a:pt x="548421" y="273213"/>
                </a:lnTo>
                <a:lnTo>
                  <a:pt x="0" y="2732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581773" y="402247"/>
            <a:ext cx="347360" cy="347360"/>
          </a:xfrm>
          <a:custGeom>
            <a:avLst/>
            <a:gdLst/>
            <a:ahLst/>
            <a:cxnLst/>
            <a:rect r="r" b="b" t="t" l="l"/>
            <a:pathLst>
              <a:path h="347360" w="347360">
                <a:moveTo>
                  <a:pt x="0" y="0"/>
                </a:moveTo>
                <a:lnTo>
                  <a:pt x="347360" y="0"/>
                </a:lnTo>
                <a:lnTo>
                  <a:pt x="347360" y="347360"/>
                </a:lnTo>
                <a:lnTo>
                  <a:pt x="0" y="3473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grpSp>
        <p:nvGrpSpPr>
          <p:cNvPr name="Group 6" id="6"/>
          <p:cNvGrpSpPr/>
          <p:nvPr/>
        </p:nvGrpSpPr>
        <p:grpSpPr>
          <a:xfrm rot="0">
            <a:off x="7393205" y="4998390"/>
            <a:ext cx="238145" cy="2381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600"/>
                </a:lnSpc>
              </a:pPr>
            </a:p>
          </p:txBody>
        </p:sp>
      </p:grpSp>
      <p:sp>
        <p:nvSpPr>
          <p:cNvPr name="TextBox 9" id="9"/>
          <p:cNvSpPr txBox="true"/>
          <p:nvPr/>
        </p:nvSpPr>
        <p:spPr>
          <a:xfrm rot="0">
            <a:off x="1028700" y="2662740"/>
            <a:ext cx="8115300" cy="1309117"/>
          </a:xfrm>
          <a:prstGeom prst="rect">
            <a:avLst/>
          </a:prstGeom>
        </p:spPr>
        <p:txBody>
          <a:bodyPr anchor="t" rtlCol="false" tIns="0" lIns="0" bIns="0" rIns="0">
            <a:spAutoFit/>
          </a:bodyPr>
          <a:lstStyle/>
          <a:p>
            <a:pPr algn="l">
              <a:lnSpc>
                <a:spcPts val="9672"/>
              </a:lnSpc>
            </a:pPr>
            <a:r>
              <a:rPr lang="en-US" sz="10400" spc="-769" b="true">
                <a:solidFill>
                  <a:srgbClr val="000000"/>
                </a:solidFill>
                <a:latin typeface="Inter Bold"/>
                <a:ea typeface="Inter Bold"/>
                <a:cs typeface="Inter Bold"/>
                <a:sym typeface="Inter Bold"/>
              </a:rPr>
              <a:t>Giới thiệu</a:t>
            </a:r>
          </a:p>
        </p:txBody>
      </p:sp>
      <p:sp>
        <p:nvSpPr>
          <p:cNvPr name="TextBox 10" id="10"/>
          <p:cNvSpPr txBox="true"/>
          <p:nvPr/>
        </p:nvSpPr>
        <p:spPr>
          <a:xfrm rot="0">
            <a:off x="1028700" y="3946250"/>
            <a:ext cx="11713164" cy="5272900"/>
          </a:xfrm>
          <a:prstGeom prst="rect">
            <a:avLst/>
          </a:prstGeom>
        </p:spPr>
        <p:txBody>
          <a:bodyPr anchor="t" rtlCol="false" tIns="0" lIns="0" bIns="0" rIns="0">
            <a:spAutoFit/>
          </a:bodyPr>
          <a:lstStyle/>
          <a:p>
            <a:pPr algn="just" marL="689208" indent="-344604" lvl="1">
              <a:lnSpc>
                <a:spcPts val="7086"/>
              </a:lnSpc>
              <a:buFont typeface="Arial"/>
              <a:buChar char="•"/>
            </a:pPr>
            <a:r>
              <a:rPr lang="en-US" sz="3192">
                <a:solidFill>
                  <a:srgbClr val="000000"/>
                </a:solidFill>
                <a:latin typeface="Inter"/>
                <a:ea typeface="Inter"/>
                <a:cs typeface="Inter"/>
                <a:sym typeface="Inter"/>
              </a:rPr>
              <a:t>T</a:t>
            </a:r>
            <a:r>
              <a:rPr lang="en-US" sz="3192">
                <a:solidFill>
                  <a:srgbClr val="000000"/>
                </a:solidFill>
                <a:latin typeface="Inter"/>
                <a:ea typeface="Inter"/>
                <a:cs typeface="Inter"/>
                <a:sym typeface="Inter"/>
              </a:rPr>
              <a:t>heo dõi quá trình bán hàng, từ khi tiếp nhận một khách hàng tiềm năng, chăm sóc, gửi đề xuất cho đến khi cơ hội được chốt thành công hoặc thất bại.</a:t>
            </a:r>
          </a:p>
          <a:p>
            <a:pPr algn="just" marL="689208" indent="-344604" lvl="1">
              <a:lnSpc>
                <a:spcPts val="7086"/>
              </a:lnSpc>
              <a:buFont typeface="Arial"/>
              <a:buChar char="•"/>
            </a:pPr>
            <a:r>
              <a:rPr lang="en-US" sz="3192">
                <a:solidFill>
                  <a:srgbClr val="000000"/>
                </a:solidFill>
                <a:latin typeface="Inter"/>
                <a:ea typeface="Inter"/>
                <a:cs typeface="Inter"/>
                <a:sym typeface="Inter"/>
              </a:rPr>
              <a:t>Báo cáo sử dụng dữ liệu CRM để:</a:t>
            </a:r>
          </a:p>
          <a:p>
            <a:pPr algn="just" marL="1378416" indent="-459472" lvl="2">
              <a:lnSpc>
                <a:spcPts val="7086"/>
              </a:lnSpc>
              <a:buFont typeface="Arial"/>
              <a:buChar char="⚬"/>
            </a:pPr>
            <a:r>
              <a:rPr lang="en-US" sz="3192">
                <a:solidFill>
                  <a:srgbClr val="000000"/>
                </a:solidFill>
                <a:latin typeface="Inter"/>
                <a:ea typeface="Inter"/>
                <a:cs typeface="Inter"/>
                <a:sym typeface="Inter"/>
              </a:rPr>
              <a:t>Phân tích hiệu quả hoạt động bán hàng theo thời gian</a:t>
            </a:r>
          </a:p>
          <a:p>
            <a:pPr algn="just" marL="1378416" indent="-459472" lvl="2">
              <a:lnSpc>
                <a:spcPts val="7086"/>
              </a:lnSpc>
              <a:buFont typeface="Arial"/>
              <a:buChar char="⚬"/>
            </a:pPr>
            <a:r>
              <a:rPr lang="en-US" sz="3192">
                <a:solidFill>
                  <a:srgbClr val="000000"/>
                </a:solidFill>
                <a:latin typeface="Inter"/>
                <a:ea typeface="Inter"/>
                <a:cs typeface="Inter"/>
                <a:sym typeface="Inter"/>
              </a:rPr>
              <a:t>T</a:t>
            </a:r>
            <a:r>
              <a:rPr lang="en-US" sz="3192">
                <a:solidFill>
                  <a:srgbClr val="000000"/>
                </a:solidFill>
                <a:latin typeface="Inter"/>
                <a:ea typeface="Inter"/>
                <a:cs typeface="Inter"/>
                <a:sym typeface="Inter"/>
              </a:rPr>
              <a:t>rạng thái cơ hội, khách hàng và các nhóm liên quan</a:t>
            </a:r>
          </a:p>
        </p:txBody>
      </p:sp>
      <p:sp>
        <p:nvSpPr>
          <p:cNvPr name="Freeform 11" id="11"/>
          <p:cNvSpPr/>
          <p:nvPr/>
        </p:nvSpPr>
        <p:spPr>
          <a:xfrm flipH="false" flipV="false" rot="0">
            <a:off x="-1837215" y="9370275"/>
            <a:ext cx="3674431" cy="1173235"/>
          </a:xfrm>
          <a:custGeom>
            <a:avLst/>
            <a:gdLst/>
            <a:ahLst/>
            <a:cxnLst/>
            <a:rect r="r" b="b" t="t" l="l"/>
            <a:pathLst>
              <a:path h="1173235" w="3674431">
                <a:moveTo>
                  <a:pt x="0" y="0"/>
                </a:moveTo>
                <a:lnTo>
                  <a:pt x="3674430" y="0"/>
                </a:lnTo>
                <a:lnTo>
                  <a:pt x="3674430" y="1173235"/>
                </a:lnTo>
                <a:lnTo>
                  <a:pt x="0" y="11732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4919810" y="1642586"/>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3406258" y="2096195"/>
            <a:ext cx="3853042" cy="7162105"/>
            <a:chOff x="0" y="0"/>
            <a:chExt cx="1504106" cy="2795859"/>
          </a:xfrm>
        </p:grpSpPr>
        <p:sp>
          <p:nvSpPr>
            <p:cNvPr name="Freeform 14" id="14"/>
            <p:cNvSpPr/>
            <p:nvPr/>
          </p:nvSpPr>
          <p:spPr>
            <a:xfrm flipH="false" flipV="false" rot="0">
              <a:off x="0" y="0"/>
              <a:ext cx="1504105" cy="2795859"/>
            </a:xfrm>
            <a:custGeom>
              <a:avLst/>
              <a:gdLst/>
              <a:ahLst/>
              <a:cxnLst/>
              <a:rect r="r" b="b" t="t" l="l"/>
              <a:pathLst>
                <a:path h="2795859" w="1504105">
                  <a:moveTo>
                    <a:pt x="86400" y="0"/>
                  </a:moveTo>
                  <a:lnTo>
                    <a:pt x="1417706" y="0"/>
                  </a:lnTo>
                  <a:cubicBezTo>
                    <a:pt x="1440620" y="0"/>
                    <a:pt x="1462596" y="9103"/>
                    <a:pt x="1478800" y="25306"/>
                  </a:cubicBezTo>
                  <a:cubicBezTo>
                    <a:pt x="1495003" y="41509"/>
                    <a:pt x="1504105" y="63485"/>
                    <a:pt x="1504105" y="86400"/>
                  </a:cubicBezTo>
                  <a:lnTo>
                    <a:pt x="1504105" y="2709459"/>
                  </a:lnTo>
                  <a:cubicBezTo>
                    <a:pt x="1504105" y="2757176"/>
                    <a:pt x="1465423" y="2795859"/>
                    <a:pt x="1417706" y="2795859"/>
                  </a:cubicBezTo>
                  <a:lnTo>
                    <a:pt x="86400" y="2795859"/>
                  </a:lnTo>
                  <a:cubicBezTo>
                    <a:pt x="38683" y="2795859"/>
                    <a:pt x="0" y="2757176"/>
                    <a:pt x="0" y="2709459"/>
                  </a:cubicBezTo>
                  <a:lnTo>
                    <a:pt x="0" y="86400"/>
                  </a:lnTo>
                  <a:cubicBezTo>
                    <a:pt x="0" y="38683"/>
                    <a:pt x="38683" y="0"/>
                    <a:pt x="86400" y="0"/>
                  </a:cubicBezTo>
                  <a:close/>
                </a:path>
              </a:pathLst>
            </a:custGeom>
            <a:blipFill>
              <a:blip r:embed="rId9"/>
              <a:stretch>
                <a:fillRect l="-89284" t="0" r="-89284"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567220" y="439320"/>
            <a:ext cx="548421" cy="273213"/>
          </a:xfrm>
          <a:custGeom>
            <a:avLst/>
            <a:gdLst/>
            <a:ahLst/>
            <a:cxnLst/>
            <a:rect r="r" b="b" t="t" l="l"/>
            <a:pathLst>
              <a:path h="273213" w="548421">
                <a:moveTo>
                  <a:pt x="0" y="0"/>
                </a:moveTo>
                <a:lnTo>
                  <a:pt x="548421" y="0"/>
                </a:lnTo>
                <a:lnTo>
                  <a:pt x="548421" y="273213"/>
                </a:lnTo>
                <a:lnTo>
                  <a:pt x="0" y="2732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7581773" y="402247"/>
            <a:ext cx="347360" cy="347360"/>
          </a:xfrm>
          <a:custGeom>
            <a:avLst/>
            <a:gdLst/>
            <a:ahLst/>
            <a:cxnLst/>
            <a:rect r="r" b="b" t="t" l="l"/>
            <a:pathLst>
              <a:path h="347360" w="347360">
                <a:moveTo>
                  <a:pt x="0" y="0"/>
                </a:moveTo>
                <a:lnTo>
                  <a:pt x="347360" y="0"/>
                </a:lnTo>
                <a:lnTo>
                  <a:pt x="347360" y="347360"/>
                </a:lnTo>
                <a:lnTo>
                  <a:pt x="0" y="3473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21575" y="1680686"/>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1028700" y="2096195"/>
            <a:ext cx="4543624" cy="7162105"/>
            <a:chOff x="0" y="0"/>
            <a:chExt cx="1773687" cy="2795859"/>
          </a:xfrm>
        </p:grpSpPr>
        <p:sp>
          <p:nvSpPr>
            <p:cNvPr name="Freeform 7" id="7"/>
            <p:cNvSpPr/>
            <p:nvPr/>
          </p:nvSpPr>
          <p:spPr>
            <a:xfrm flipH="false" flipV="false" rot="0">
              <a:off x="0" y="0"/>
              <a:ext cx="1773687" cy="2795859"/>
            </a:xfrm>
            <a:custGeom>
              <a:avLst/>
              <a:gdLst/>
              <a:ahLst/>
              <a:cxnLst/>
              <a:rect r="r" b="b" t="t" l="l"/>
              <a:pathLst>
                <a:path h="2795859" w="1773687">
                  <a:moveTo>
                    <a:pt x="73268" y="0"/>
                  </a:moveTo>
                  <a:lnTo>
                    <a:pt x="1700419" y="0"/>
                  </a:lnTo>
                  <a:cubicBezTo>
                    <a:pt x="1740883" y="0"/>
                    <a:pt x="1773687" y="32803"/>
                    <a:pt x="1773687" y="73268"/>
                  </a:cubicBezTo>
                  <a:lnTo>
                    <a:pt x="1773687" y="2722591"/>
                  </a:lnTo>
                  <a:cubicBezTo>
                    <a:pt x="1773687" y="2763056"/>
                    <a:pt x="1740883" y="2795859"/>
                    <a:pt x="1700419" y="2795859"/>
                  </a:cubicBezTo>
                  <a:lnTo>
                    <a:pt x="73268" y="2795859"/>
                  </a:lnTo>
                  <a:cubicBezTo>
                    <a:pt x="53836" y="2795859"/>
                    <a:pt x="35200" y="2788140"/>
                    <a:pt x="21460" y="2774399"/>
                  </a:cubicBezTo>
                  <a:cubicBezTo>
                    <a:pt x="7719" y="2760659"/>
                    <a:pt x="0" y="2742023"/>
                    <a:pt x="0" y="2722591"/>
                  </a:cubicBezTo>
                  <a:lnTo>
                    <a:pt x="0" y="73268"/>
                  </a:lnTo>
                  <a:cubicBezTo>
                    <a:pt x="0" y="53836"/>
                    <a:pt x="7719" y="35200"/>
                    <a:pt x="21460" y="21460"/>
                  </a:cubicBezTo>
                  <a:cubicBezTo>
                    <a:pt x="35200" y="7719"/>
                    <a:pt x="53836" y="0"/>
                    <a:pt x="73268" y="0"/>
                  </a:cubicBezTo>
                  <a:close/>
                </a:path>
              </a:pathLst>
            </a:custGeom>
            <a:blipFill>
              <a:blip r:embed="rId9"/>
              <a:stretch>
                <a:fillRect l="-2591" t="0" r="-2591" b="0"/>
              </a:stretch>
            </a:blipFill>
          </p:spPr>
        </p:sp>
      </p:grpSp>
      <p:sp>
        <p:nvSpPr>
          <p:cNvPr name="TextBox 8" id="8"/>
          <p:cNvSpPr txBox="true"/>
          <p:nvPr/>
        </p:nvSpPr>
        <p:spPr>
          <a:xfrm rot="0">
            <a:off x="7652473" y="1599826"/>
            <a:ext cx="9190077" cy="1905000"/>
          </a:xfrm>
          <a:prstGeom prst="rect">
            <a:avLst/>
          </a:prstGeom>
        </p:spPr>
        <p:txBody>
          <a:bodyPr anchor="t" rtlCol="false" tIns="0" lIns="0" bIns="0" rIns="0">
            <a:spAutoFit/>
          </a:bodyPr>
          <a:lstStyle/>
          <a:p>
            <a:pPr algn="just">
              <a:lnSpc>
                <a:spcPts val="13950"/>
              </a:lnSpc>
            </a:pPr>
            <a:r>
              <a:rPr lang="en-US" b="true" sz="15000" spc="-1110">
                <a:solidFill>
                  <a:srgbClr val="000000"/>
                </a:solidFill>
                <a:latin typeface="Inter Bold"/>
                <a:ea typeface="Inter Bold"/>
                <a:cs typeface="Inter Bold"/>
                <a:sym typeface="Inter Bold"/>
              </a:rPr>
              <a:t>Tổng quan</a:t>
            </a:r>
          </a:p>
        </p:txBody>
      </p:sp>
      <p:grpSp>
        <p:nvGrpSpPr>
          <p:cNvPr name="Group 9" id="9"/>
          <p:cNvGrpSpPr/>
          <p:nvPr/>
        </p:nvGrpSpPr>
        <p:grpSpPr>
          <a:xfrm rot="0">
            <a:off x="16847129" y="5558267"/>
            <a:ext cx="238145" cy="2381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a:lnSpc>
                  <a:spcPts val="2600"/>
                </a:lnSpc>
              </a:pPr>
            </a:p>
          </p:txBody>
        </p:sp>
      </p:grpSp>
      <p:sp>
        <p:nvSpPr>
          <p:cNvPr name="TextBox 12" id="12"/>
          <p:cNvSpPr txBox="true"/>
          <p:nvPr/>
        </p:nvSpPr>
        <p:spPr>
          <a:xfrm rot="0">
            <a:off x="6974941" y="3813917"/>
            <a:ext cx="10583105" cy="5441298"/>
          </a:xfrm>
          <a:prstGeom prst="rect">
            <a:avLst/>
          </a:prstGeom>
        </p:spPr>
        <p:txBody>
          <a:bodyPr anchor="t" rtlCol="false" tIns="0" lIns="0" bIns="0" rIns="0">
            <a:spAutoFit/>
          </a:bodyPr>
          <a:lstStyle/>
          <a:p>
            <a:pPr algn="just">
              <a:lnSpc>
                <a:spcPts val="6160"/>
              </a:lnSpc>
            </a:pPr>
            <a:r>
              <a:rPr lang="en-US" sz="4400">
                <a:solidFill>
                  <a:srgbClr val="000000"/>
                </a:solidFill>
                <a:latin typeface="Inter"/>
                <a:ea typeface="Inter"/>
                <a:cs typeface="Inter"/>
                <a:sym typeface="Inter"/>
              </a:rPr>
              <a:t>Manager sử dụng, theo dõi hàng tháng</a:t>
            </a:r>
          </a:p>
          <a:p>
            <a:pPr algn="just">
              <a:lnSpc>
                <a:spcPts val="6160"/>
              </a:lnSpc>
            </a:pPr>
            <a:r>
              <a:rPr lang="en-US" sz="4400">
                <a:solidFill>
                  <a:srgbClr val="000000"/>
                </a:solidFill>
                <a:latin typeface="Inter"/>
                <a:ea typeface="Inter"/>
                <a:cs typeface="Inter"/>
                <a:sym typeface="Inter"/>
              </a:rPr>
              <a:t>(VD: tháng 4/2024)</a:t>
            </a:r>
          </a:p>
          <a:p>
            <a:pPr algn="just">
              <a:lnSpc>
                <a:spcPts val="6160"/>
              </a:lnSpc>
            </a:pPr>
            <a:r>
              <a:rPr lang="en-US" sz="4400">
                <a:solidFill>
                  <a:srgbClr val="000000"/>
                </a:solidFill>
                <a:latin typeface="Inter"/>
                <a:ea typeface="Inter"/>
                <a:cs typeface="Inter"/>
                <a:sym typeface="Inter"/>
              </a:rPr>
              <a:t>Dashboard gồm 4 trang:</a:t>
            </a:r>
          </a:p>
          <a:p>
            <a:pPr algn="l" marL="950106" indent="-475053" lvl="1">
              <a:lnSpc>
                <a:spcPts val="6160"/>
              </a:lnSpc>
              <a:buFont typeface="Arial"/>
              <a:buChar char="•"/>
            </a:pPr>
            <a:r>
              <a:rPr lang="en-US" sz="4400">
                <a:solidFill>
                  <a:srgbClr val="000000"/>
                </a:solidFill>
                <a:latin typeface="Inter"/>
                <a:ea typeface="Inter"/>
                <a:cs typeface="Inter"/>
                <a:sym typeface="Inter"/>
              </a:rPr>
              <a:t>Overview</a:t>
            </a:r>
          </a:p>
          <a:p>
            <a:pPr algn="l" marL="950106" indent="-475053" lvl="1">
              <a:lnSpc>
                <a:spcPts val="6160"/>
              </a:lnSpc>
              <a:buFont typeface="Arial"/>
              <a:buChar char="•"/>
            </a:pPr>
            <a:r>
              <a:rPr lang="en-US" sz="4400">
                <a:solidFill>
                  <a:srgbClr val="000000"/>
                </a:solidFill>
                <a:latin typeface="Inter"/>
                <a:ea typeface="Inter"/>
                <a:cs typeface="Inter"/>
                <a:sym typeface="Inter"/>
              </a:rPr>
              <a:t>Pipeline</a:t>
            </a:r>
          </a:p>
          <a:p>
            <a:pPr algn="l" marL="950106" indent="-475053" lvl="1">
              <a:lnSpc>
                <a:spcPts val="6160"/>
              </a:lnSpc>
              <a:buFont typeface="Arial"/>
              <a:buChar char="•"/>
            </a:pPr>
            <a:r>
              <a:rPr lang="en-US" sz="4400">
                <a:solidFill>
                  <a:srgbClr val="000000"/>
                </a:solidFill>
                <a:latin typeface="Inter"/>
                <a:ea typeface="Inter"/>
                <a:cs typeface="Inter"/>
                <a:sym typeface="Inter"/>
              </a:rPr>
              <a:t>Sales performance</a:t>
            </a:r>
          </a:p>
          <a:p>
            <a:pPr algn="l" marL="950106" indent="-475053" lvl="1">
              <a:lnSpc>
                <a:spcPts val="6160"/>
              </a:lnSpc>
              <a:buFont typeface="Arial"/>
              <a:buChar char="•"/>
            </a:pPr>
            <a:r>
              <a:rPr lang="en-US" sz="4400">
                <a:solidFill>
                  <a:srgbClr val="000000"/>
                </a:solidFill>
                <a:latin typeface="Inter"/>
                <a:ea typeface="Inter"/>
                <a:cs typeface="Inter"/>
                <a:sym typeface="Inter"/>
              </a:rPr>
              <a:t>Customers</a:t>
            </a:r>
          </a:p>
        </p:txBody>
      </p:sp>
      <p:sp>
        <p:nvSpPr>
          <p:cNvPr name="Freeform 13" id="13"/>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14" id="14"/>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29450" y="420906"/>
            <a:ext cx="6200458" cy="774005"/>
          </a:xfrm>
          <a:prstGeom prst="rect">
            <a:avLst/>
          </a:prstGeom>
        </p:spPr>
        <p:txBody>
          <a:bodyPr anchor="t" rtlCol="false" tIns="0" lIns="0" bIns="0" rIns="0">
            <a:spAutoFit/>
          </a:bodyPr>
          <a:lstStyle/>
          <a:p>
            <a:pPr algn="just">
              <a:lnSpc>
                <a:spcPts val="5686"/>
              </a:lnSpc>
            </a:pPr>
            <a:r>
              <a:rPr lang="en-US" b="true" sz="6114" spc="-452">
                <a:solidFill>
                  <a:srgbClr val="000000"/>
                </a:solidFill>
                <a:latin typeface="Inter Bold"/>
                <a:ea typeface="Inter Bold"/>
                <a:cs typeface="Inter Bold"/>
                <a:sym typeface="Inter Bold"/>
              </a:rPr>
              <a:t>Overview</a:t>
            </a:r>
          </a:p>
        </p:txBody>
      </p:sp>
      <p:sp>
        <p:nvSpPr>
          <p:cNvPr name="Freeform 4" id="4"/>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5" id="5"/>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Freeform 6" id="6"/>
          <p:cNvSpPr/>
          <p:nvPr/>
        </p:nvSpPr>
        <p:spPr>
          <a:xfrm flipH="false" flipV="false" rot="0">
            <a:off x="6529907" y="268506"/>
            <a:ext cx="11758093" cy="6505154"/>
          </a:xfrm>
          <a:custGeom>
            <a:avLst/>
            <a:gdLst/>
            <a:ahLst/>
            <a:cxnLst/>
            <a:rect r="r" b="b" t="t" l="l"/>
            <a:pathLst>
              <a:path h="6505154" w="11758093">
                <a:moveTo>
                  <a:pt x="0" y="0"/>
                </a:moveTo>
                <a:lnTo>
                  <a:pt x="11758093" y="0"/>
                </a:lnTo>
                <a:lnTo>
                  <a:pt x="11758093" y="6505154"/>
                </a:lnTo>
                <a:lnTo>
                  <a:pt x="0" y="6505154"/>
                </a:lnTo>
                <a:lnTo>
                  <a:pt x="0" y="0"/>
                </a:lnTo>
                <a:close/>
              </a:path>
            </a:pathLst>
          </a:custGeom>
          <a:blipFill>
            <a:blip r:embed="rId5"/>
            <a:stretch>
              <a:fillRect l="0" t="0" r="0" b="0"/>
            </a:stretch>
          </a:blipFill>
        </p:spPr>
      </p:sp>
      <p:sp>
        <p:nvSpPr>
          <p:cNvPr name="TextBox 7" id="7"/>
          <p:cNvSpPr txBox="true"/>
          <p:nvPr/>
        </p:nvSpPr>
        <p:spPr>
          <a:xfrm rot="0">
            <a:off x="329450" y="1160359"/>
            <a:ext cx="5955493" cy="6071109"/>
          </a:xfrm>
          <a:prstGeom prst="rect">
            <a:avLst/>
          </a:prstGeom>
        </p:spPr>
        <p:txBody>
          <a:bodyPr anchor="t" rtlCol="false" tIns="0" lIns="0" bIns="0" rIns="0">
            <a:spAutoFit/>
          </a:bodyPr>
          <a:lstStyle/>
          <a:p>
            <a:pPr algn="just">
              <a:lnSpc>
                <a:spcPts val="4563"/>
              </a:lnSpc>
            </a:pPr>
            <a:r>
              <a:rPr lang="en-US" b="true" sz="2799">
                <a:solidFill>
                  <a:srgbClr val="000000"/>
                </a:solidFill>
                <a:latin typeface="Inter Bold"/>
                <a:ea typeface="Inter Bold"/>
                <a:cs typeface="Inter Bold"/>
                <a:sym typeface="Inter Bold"/>
              </a:rPr>
              <a:t>1. Quy mô và chất lượng của Sales Pipeline trong tháng được chọn đang như thế nào?</a:t>
            </a:r>
          </a:p>
          <a:p>
            <a:pPr algn="just" marL="474976" indent="-237488" lvl="1">
              <a:lnSpc>
                <a:spcPts val="3585"/>
              </a:lnSpc>
              <a:buFont typeface="Arial"/>
              <a:buChar char="•"/>
            </a:pPr>
            <a:r>
              <a:rPr lang="en-US" sz="2199">
                <a:solidFill>
                  <a:srgbClr val="000000"/>
                </a:solidFill>
                <a:latin typeface="Inter"/>
                <a:ea typeface="Inter"/>
                <a:cs typeface="Inter"/>
                <a:sym typeface="Inter"/>
              </a:rPr>
              <a:t>Số lượng lead và open opportunities xu hướng </a:t>
            </a:r>
            <a:r>
              <a:rPr lang="en-US" b="true" sz="2199">
                <a:solidFill>
                  <a:srgbClr val="000000"/>
                </a:solidFill>
                <a:latin typeface="Inter Bold"/>
                <a:ea typeface="Inter Bold"/>
                <a:cs typeface="Inter Bold"/>
                <a:sym typeface="Inter Bold"/>
              </a:rPr>
              <a:t>giảm nhẹ</a:t>
            </a:r>
            <a:r>
              <a:rPr lang="en-US" sz="2199">
                <a:solidFill>
                  <a:srgbClr val="000000"/>
                </a:solidFill>
                <a:latin typeface="Inter"/>
                <a:ea typeface="Inter"/>
                <a:cs typeface="Inter"/>
                <a:sym typeface="Inter"/>
              </a:rPr>
              <a:t> với tháng trước (7,9% và 13%).</a:t>
            </a:r>
          </a:p>
          <a:p>
            <a:pPr algn="just" marL="474976" indent="-237488" lvl="1">
              <a:lnSpc>
                <a:spcPts val="3585"/>
              </a:lnSpc>
              <a:buFont typeface="Arial"/>
              <a:buChar char="•"/>
            </a:pPr>
            <a:r>
              <a:rPr lang="en-US" sz="2199">
                <a:solidFill>
                  <a:srgbClr val="000000"/>
                </a:solidFill>
                <a:latin typeface="Inter"/>
                <a:ea typeface="Inter"/>
                <a:cs typeface="Inter"/>
                <a:sym typeface="Inter"/>
              </a:rPr>
              <a:t>Nhưng </a:t>
            </a:r>
            <a:r>
              <a:rPr lang="en-US" b="true" sz="2199">
                <a:solidFill>
                  <a:srgbClr val="000000"/>
                </a:solidFill>
                <a:latin typeface="Inter Bold"/>
                <a:ea typeface="Inter Bold"/>
                <a:cs typeface="Inter Bold"/>
                <a:sym typeface="Inter Bold"/>
              </a:rPr>
              <a:t>giá trị lại tăng nhẹ</a:t>
            </a:r>
            <a:r>
              <a:rPr lang="en-US" sz="2199">
                <a:solidFill>
                  <a:srgbClr val="000000"/>
                </a:solidFill>
                <a:latin typeface="Inter"/>
                <a:ea typeface="Inter"/>
                <a:cs typeface="Inter"/>
                <a:sym typeface="Inter"/>
              </a:rPr>
              <a:t>: </a:t>
            </a:r>
            <a:r>
              <a:rPr lang="en-US" sz="2199">
                <a:solidFill>
                  <a:srgbClr val="000000"/>
                </a:solidFill>
                <a:latin typeface="Inter"/>
                <a:ea typeface="Inter"/>
                <a:cs typeface="Inter"/>
                <a:sym typeface="Inter"/>
              </a:rPr>
              <a:t>Open Pipeline Value (3,6%) và Weighted Open Pipeline (8,7%)</a:t>
            </a:r>
          </a:p>
          <a:p>
            <a:pPr algn="just">
              <a:lnSpc>
                <a:spcPts val="3585"/>
              </a:lnSpc>
            </a:pPr>
            <a:r>
              <a:rPr lang="en-US" sz="2199">
                <a:solidFill>
                  <a:srgbClr val="000000"/>
                </a:solidFill>
                <a:latin typeface="Inter"/>
                <a:ea typeface="Inter"/>
                <a:cs typeface="Inter"/>
                <a:sym typeface="Inter"/>
              </a:rPr>
              <a:t>=&gt; </a:t>
            </a:r>
            <a:r>
              <a:rPr lang="en-US" b="true" sz="2199">
                <a:solidFill>
                  <a:srgbClr val="000000"/>
                </a:solidFill>
                <a:latin typeface="Inter Bold"/>
                <a:ea typeface="Inter Bold"/>
                <a:cs typeface="Inter Bold"/>
                <a:sym typeface="Inter Bold"/>
              </a:rPr>
              <a:t>Insignt:</a:t>
            </a:r>
            <a:r>
              <a:rPr lang="en-US" sz="2199">
                <a:solidFill>
                  <a:srgbClr val="000000"/>
                </a:solidFill>
                <a:latin typeface="Inter"/>
                <a:ea typeface="Inter"/>
                <a:cs typeface="Inter"/>
                <a:sym typeface="Inter"/>
              </a:rPr>
              <a:t> nghĩa là số cơ hội ít hơn nhưng giá trị hoặc chất lượng trung bình của cơ hội có thể cao hơn.</a:t>
            </a:r>
          </a:p>
          <a:p>
            <a:pPr algn="just">
              <a:lnSpc>
                <a:spcPts val="2607"/>
              </a:lnSpc>
            </a:pPr>
          </a:p>
        </p:txBody>
      </p:sp>
      <p:sp>
        <p:nvSpPr>
          <p:cNvPr name="TextBox 8" id="8"/>
          <p:cNvSpPr txBox="true"/>
          <p:nvPr/>
        </p:nvSpPr>
        <p:spPr>
          <a:xfrm rot="0">
            <a:off x="329450" y="7069543"/>
            <a:ext cx="16102355" cy="3478405"/>
          </a:xfrm>
          <a:prstGeom prst="rect">
            <a:avLst/>
          </a:prstGeom>
        </p:spPr>
        <p:txBody>
          <a:bodyPr anchor="t" rtlCol="false" tIns="0" lIns="0" bIns="0" rIns="0">
            <a:spAutoFit/>
          </a:bodyPr>
          <a:lstStyle/>
          <a:p>
            <a:pPr algn="just">
              <a:lnSpc>
                <a:spcPts val="5823"/>
              </a:lnSpc>
            </a:pPr>
            <a:r>
              <a:rPr lang="en-US" sz="2799" b="true">
                <a:solidFill>
                  <a:srgbClr val="000000"/>
                </a:solidFill>
                <a:latin typeface="Inter Bold"/>
                <a:ea typeface="Inter Bold"/>
                <a:cs typeface="Inter Bold"/>
                <a:sym typeface="Inter Bold"/>
              </a:rPr>
              <a:t>2</a:t>
            </a:r>
            <a:r>
              <a:rPr lang="en-US" b="true" sz="2799">
                <a:solidFill>
                  <a:srgbClr val="000000"/>
                </a:solidFill>
                <a:latin typeface="Inter Bold"/>
                <a:ea typeface="Inter Bold"/>
                <a:cs typeface="Inter Bold"/>
                <a:sym typeface="Inter Bold"/>
              </a:rPr>
              <a:t>. Pipeline đang tập trung ở đâu và dự kiến tạo doanh thu vào thời điểm nào?</a:t>
            </a:r>
          </a:p>
          <a:p>
            <a:pPr algn="just" marL="474976" indent="-237488" lvl="1">
              <a:lnSpc>
                <a:spcPts val="4575"/>
              </a:lnSpc>
              <a:buFont typeface="Arial"/>
              <a:buChar char="•"/>
            </a:pPr>
            <a:r>
              <a:rPr lang="en-US" sz="2199">
                <a:solidFill>
                  <a:srgbClr val="000000"/>
                </a:solidFill>
                <a:latin typeface="Inter"/>
                <a:ea typeface="Inter"/>
                <a:cs typeface="Inter"/>
                <a:sym typeface="Inter"/>
              </a:rPr>
              <a:t>Các cơ hội đang mở (Open Pipeline) t</a:t>
            </a:r>
            <a:r>
              <a:rPr lang="en-US" sz="2199">
                <a:solidFill>
                  <a:srgbClr val="000000"/>
                </a:solidFill>
                <a:latin typeface="Inter"/>
                <a:ea typeface="Inter"/>
                <a:cs typeface="Inter"/>
                <a:sym typeface="Inter"/>
              </a:rPr>
              <a:t>ập trung ở giai đoạn </a:t>
            </a:r>
            <a:r>
              <a:rPr lang="en-US" b="true" sz="2199">
                <a:solidFill>
                  <a:srgbClr val="000000"/>
                </a:solidFill>
                <a:latin typeface="Inter Bold"/>
                <a:ea typeface="Inter Bold"/>
                <a:cs typeface="Inter Bold"/>
                <a:sym typeface="Inter Bold"/>
              </a:rPr>
              <a:t>Initial contact </a:t>
            </a:r>
            <a:r>
              <a:rPr lang="en-US" sz="2199">
                <a:solidFill>
                  <a:srgbClr val="000000"/>
                </a:solidFill>
                <a:latin typeface="Inter"/>
                <a:ea typeface="Inter"/>
                <a:cs typeface="Inter"/>
                <a:sym typeface="Inter"/>
              </a:rPr>
              <a:t>=&gt;</a:t>
            </a:r>
            <a:r>
              <a:rPr lang="en-US" b="true" sz="2199">
                <a:solidFill>
                  <a:srgbClr val="000000"/>
                </a:solidFill>
                <a:latin typeface="Inter Bold"/>
                <a:ea typeface="Inter Bold"/>
                <a:cs typeface="Inter Bold"/>
                <a:sym typeface="Inter Bold"/>
              </a:rPr>
              <a:t> Insight:</a:t>
            </a:r>
            <a:r>
              <a:rPr lang="en-US" sz="2199">
                <a:solidFill>
                  <a:srgbClr val="000000"/>
                </a:solidFill>
                <a:latin typeface="Inter"/>
                <a:ea typeface="Inter"/>
                <a:cs typeface="Inter"/>
                <a:sym typeface="Inter"/>
              </a:rPr>
              <a:t> phần lớn giá trị vẫn nằm ở bước tiếp cận khách hàng =&gt; </a:t>
            </a:r>
            <a:r>
              <a:rPr lang="en-US" b="true" sz="2199">
                <a:solidFill>
                  <a:srgbClr val="000000"/>
                </a:solidFill>
                <a:latin typeface="Inter Bold"/>
                <a:ea typeface="Inter Bold"/>
                <a:cs typeface="Inter Bold"/>
                <a:sym typeface="Inter Bold"/>
              </a:rPr>
              <a:t>Recommend</a:t>
            </a:r>
            <a:r>
              <a:rPr lang="en-US" sz="2199">
                <a:solidFill>
                  <a:srgbClr val="000000"/>
                </a:solidFill>
                <a:latin typeface="Inter"/>
                <a:ea typeface="Inter"/>
                <a:cs typeface="Inter"/>
                <a:sym typeface="Inter"/>
              </a:rPr>
              <a:t>: nên tập trung đẩy nhanh hoạt động trao đổi.</a:t>
            </a:r>
          </a:p>
          <a:p>
            <a:pPr algn="just" marL="474976" indent="-237488" lvl="1">
              <a:lnSpc>
                <a:spcPts val="4575"/>
              </a:lnSpc>
              <a:buFont typeface="Arial"/>
              <a:buChar char="•"/>
            </a:pPr>
            <a:r>
              <a:rPr lang="en-US" sz="2199">
                <a:solidFill>
                  <a:srgbClr val="000000"/>
                </a:solidFill>
                <a:latin typeface="Inter"/>
                <a:ea typeface="Inter"/>
                <a:cs typeface="Inter"/>
                <a:sym typeface="Inter"/>
              </a:rPr>
              <a:t>Sau khi tính giá trị với tỉ lệ thành công (Weighted Pipeline), </a:t>
            </a:r>
            <a:r>
              <a:rPr lang="en-US" b="true" sz="2199">
                <a:solidFill>
                  <a:srgbClr val="000000"/>
                </a:solidFill>
                <a:latin typeface="Inter Bold"/>
                <a:ea typeface="Inter Bold"/>
                <a:cs typeface="Inter Bold"/>
                <a:sym typeface="Inter Bold"/>
              </a:rPr>
              <a:t>SaaS</a:t>
            </a:r>
            <a:r>
              <a:rPr lang="en-US" sz="2199">
                <a:solidFill>
                  <a:srgbClr val="000000"/>
                </a:solidFill>
                <a:latin typeface="Inter"/>
                <a:ea typeface="Inter"/>
                <a:cs typeface="Inter"/>
                <a:sym typeface="Inter"/>
              </a:rPr>
              <a:t> là nhóm sản phẩm đóng góp lớn nhất.</a:t>
            </a:r>
          </a:p>
          <a:p>
            <a:pPr algn="just" marL="474976" indent="-237488" lvl="1">
              <a:lnSpc>
                <a:spcPts val="4575"/>
              </a:lnSpc>
              <a:buFont typeface="Arial"/>
              <a:buChar char="•"/>
            </a:pPr>
            <a:r>
              <a:rPr lang="en-US" b="true" sz="2199">
                <a:solidFill>
                  <a:srgbClr val="000000"/>
                </a:solidFill>
                <a:latin typeface="Inter Bold"/>
                <a:ea typeface="Inter Bold"/>
                <a:cs typeface="Inter Bold"/>
                <a:sym typeface="Inter Bold"/>
              </a:rPr>
              <a:t>Italy</a:t>
            </a:r>
            <a:r>
              <a:rPr lang="en-US" sz="2199">
                <a:solidFill>
                  <a:srgbClr val="000000"/>
                </a:solidFill>
                <a:latin typeface="Inter"/>
                <a:ea typeface="Inter"/>
                <a:cs typeface="Inter"/>
                <a:sym typeface="Inter"/>
              </a:rPr>
              <a:t> có giá trị tiềm năng cao nhất =&gt; </a:t>
            </a:r>
            <a:r>
              <a:rPr lang="en-US" b="true" sz="2199">
                <a:solidFill>
                  <a:srgbClr val="000000"/>
                </a:solidFill>
                <a:latin typeface="Inter Bold"/>
                <a:ea typeface="Inter Bold"/>
                <a:cs typeface="Inter Bold"/>
                <a:sym typeface="Inter Bold"/>
              </a:rPr>
              <a:t>Recommend: </a:t>
            </a:r>
            <a:r>
              <a:rPr lang="en-US" sz="2199">
                <a:solidFill>
                  <a:srgbClr val="000000"/>
                </a:solidFill>
                <a:latin typeface="Inter"/>
                <a:ea typeface="Inter"/>
                <a:cs typeface="Inter"/>
                <a:sym typeface="Inter"/>
              </a:rPr>
              <a:t>chú ý khai thác cơ hội sản phẩm SaaS và Italy.</a:t>
            </a:r>
          </a:p>
          <a:p>
            <a:pPr algn="just">
              <a:lnSpc>
                <a:spcPts val="332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Freeform 5" id="5"/>
          <p:cNvSpPr/>
          <p:nvPr/>
        </p:nvSpPr>
        <p:spPr>
          <a:xfrm flipH="false" flipV="false" rot="0">
            <a:off x="6529907" y="231100"/>
            <a:ext cx="11758093" cy="6318406"/>
          </a:xfrm>
          <a:custGeom>
            <a:avLst/>
            <a:gdLst/>
            <a:ahLst/>
            <a:cxnLst/>
            <a:rect r="r" b="b" t="t" l="l"/>
            <a:pathLst>
              <a:path h="6318406" w="11758093">
                <a:moveTo>
                  <a:pt x="0" y="0"/>
                </a:moveTo>
                <a:lnTo>
                  <a:pt x="11758093" y="0"/>
                </a:lnTo>
                <a:lnTo>
                  <a:pt x="11758093" y="6318406"/>
                </a:lnTo>
                <a:lnTo>
                  <a:pt x="0" y="6318406"/>
                </a:lnTo>
                <a:lnTo>
                  <a:pt x="0" y="0"/>
                </a:lnTo>
                <a:close/>
              </a:path>
            </a:pathLst>
          </a:custGeom>
          <a:blipFill>
            <a:blip r:embed="rId5"/>
            <a:stretch>
              <a:fillRect l="0" t="0" r="0" b="0"/>
            </a:stretch>
          </a:blipFill>
        </p:spPr>
      </p:sp>
      <p:sp>
        <p:nvSpPr>
          <p:cNvPr name="TextBox 6" id="6"/>
          <p:cNvSpPr txBox="true"/>
          <p:nvPr/>
        </p:nvSpPr>
        <p:spPr>
          <a:xfrm rot="0">
            <a:off x="197844" y="382806"/>
            <a:ext cx="6332063" cy="586842"/>
          </a:xfrm>
          <a:prstGeom prst="rect">
            <a:avLst/>
          </a:prstGeom>
        </p:spPr>
        <p:txBody>
          <a:bodyPr anchor="t" rtlCol="false" tIns="0" lIns="0" bIns="0" rIns="0">
            <a:spAutoFit/>
          </a:bodyPr>
          <a:lstStyle/>
          <a:p>
            <a:pPr algn="just">
              <a:lnSpc>
                <a:spcPts val="4291"/>
              </a:lnSpc>
            </a:pPr>
            <a:r>
              <a:rPr lang="en-US" b="true" sz="4614" spc="-341">
                <a:solidFill>
                  <a:srgbClr val="000000"/>
                </a:solidFill>
                <a:latin typeface="Inter Bold"/>
                <a:ea typeface="Inter Bold"/>
                <a:cs typeface="Inter Bold"/>
                <a:sym typeface="Inter Bold"/>
              </a:rPr>
              <a:t>Pipeline Quality &amp; Priority</a:t>
            </a:r>
          </a:p>
        </p:txBody>
      </p:sp>
      <p:sp>
        <p:nvSpPr>
          <p:cNvPr name="TextBox 7" id="7"/>
          <p:cNvSpPr txBox="true"/>
          <p:nvPr/>
        </p:nvSpPr>
        <p:spPr>
          <a:xfrm rot="0">
            <a:off x="329450" y="1160359"/>
            <a:ext cx="5955493" cy="5051934"/>
          </a:xfrm>
          <a:prstGeom prst="rect">
            <a:avLst/>
          </a:prstGeom>
        </p:spPr>
        <p:txBody>
          <a:bodyPr anchor="t" rtlCol="false" tIns="0" lIns="0" bIns="0" rIns="0">
            <a:spAutoFit/>
          </a:bodyPr>
          <a:lstStyle/>
          <a:p>
            <a:pPr algn="just">
              <a:lnSpc>
                <a:spcPts val="4563"/>
              </a:lnSpc>
            </a:pPr>
            <a:r>
              <a:rPr lang="en-US" b="true" sz="2799">
                <a:solidFill>
                  <a:srgbClr val="000000"/>
                </a:solidFill>
                <a:latin typeface="Inter Bold"/>
                <a:ea typeface="Inter Bold"/>
                <a:cs typeface="Inter Bold"/>
                <a:sym typeface="Inter Bold"/>
              </a:rPr>
              <a:t>1. Pipeline tháng được chọn có chất lượng tốt không?</a:t>
            </a:r>
          </a:p>
          <a:p>
            <a:pPr algn="just" marL="474976" indent="-237488" lvl="1">
              <a:lnSpc>
                <a:spcPts val="3585"/>
              </a:lnSpc>
              <a:buFont typeface="Arial"/>
              <a:buChar char="•"/>
            </a:pPr>
            <a:r>
              <a:rPr lang="en-US" sz="2199">
                <a:solidFill>
                  <a:srgbClr val="000000"/>
                </a:solidFill>
                <a:latin typeface="Inter"/>
                <a:ea typeface="Inter"/>
                <a:cs typeface="Inter"/>
                <a:sym typeface="Inter"/>
              </a:rPr>
              <a:t>Tất cả chỉ số đều giảm, chỉ có giá trị của những khách hàng có tỉ lệ thành công cao là tăng (8.5%).</a:t>
            </a:r>
          </a:p>
          <a:p>
            <a:pPr algn="just">
              <a:lnSpc>
                <a:spcPts val="3585"/>
              </a:lnSpc>
            </a:pPr>
            <a:r>
              <a:rPr lang="en-US" sz="2199">
                <a:solidFill>
                  <a:srgbClr val="000000"/>
                </a:solidFill>
                <a:latin typeface="Inter"/>
                <a:ea typeface="Inter"/>
                <a:cs typeface="Inter"/>
                <a:sym typeface="Inter"/>
              </a:rPr>
              <a:t>=&gt; </a:t>
            </a:r>
            <a:r>
              <a:rPr lang="en-US" b="true" sz="2199">
                <a:solidFill>
                  <a:srgbClr val="000000"/>
                </a:solidFill>
                <a:latin typeface="Inter Bold"/>
                <a:ea typeface="Inter Bold"/>
                <a:cs typeface="Inter Bold"/>
                <a:sym typeface="Inter Bold"/>
              </a:rPr>
              <a:t>Insight:</a:t>
            </a:r>
            <a:r>
              <a:rPr lang="en-US" sz="2199">
                <a:solidFill>
                  <a:srgbClr val="000000"/>
                </a:solidFill>
                <a:latin typeface="Inter"/>
                <a:ea typeface="Inter"/>
                <a:cs typeface="Inter"/>
                <a:sym typeface="Inter"/>
              </a:rPr>
              <a:t> nhiều deal ở mức </a:t>
            </a:r>
            <a:r>
              <a:rPr lang="en-US" b="true" sz="2199">
                <a:solidFill>
                  <a:srgbClr val="000000"/>
                </a:solidFill>
                <a:latin typeface="Inter Bold"/>
                <a:ea typeface="Inter Bold"/>
                <a:cs typeface="Inter Bold"/>
                <a:sym typeface="Inter Bold"/>
              </a:rPr>
              <a:t>xác suất trung bình và thấp, </a:t>
            </a:r>
            <a:r>
              <a:rPr lang="en-US" sz="2199">
                <a:solidFill>
                  <a:srgbClr val="000000"/>
                </a:solidFill>
                <a:latin typeface="Inter"/>
                <a:ea typeface="Inter"/>
                <a:cs typeface="Inter"/>
                <a:sym typeface="Inter"/>
              </a:rPr>
              <a:t>dù giá trị của nhóm </a:t>
            </a:r>
            <a:r>
              <a:rPr lang="en-US" b="true" sz="2199">
                <a:solidFill>
                  <a:srgbClr val="000000"/>
                </a:solidFill>
                <a:latin typeface="Inter Bold"/>
                <a:ea typeface="Inter Bold"/>
                <a:cs typeface="Inter Bold"/>
                <a:sym typeface="Inter Bold"/>
              </a:rPr>
              <a:t>high-confidence đang tăng nhưng số lượng lại ít</a:t>
            </a:r>
            <a:r>
              <a:rPr lang="en-US" sz="2199">
                <a:solidFill>
                  <a:srgbClr val="000000"/>
                </a:solidFill>
                <a:latin typeface="Inter"/>
                <a:ea typeface="Inter"/>
                <a:cs typeface="Inter"/>
                <a:sym typeface="Inter"/>
              </a:rPr>
              <a:t>.</a:t>
            </a:r>
          </a:p>
          <a:p>
            <a:pPr algn="just">
              <a:lnSpc>
                <a:spcPts val="3585"/>
              </a:lnSpc>
            </a:pPr>
            <a:r>
              <a:rPr lang="en-US" sz="2199">
                <a:solidFill>
                  <a:srgbClr val="000000"/>
                </a:solidFill>
                <a:latin typeface="Inter"/>
                <a:ea typeface="Inter"/>
                <a:cs typeface="Inter"/>
                <a:sym typeface="Inter"/>
              </a:rPr>
              <a:t>=&gt; </a:t>
            </a:r>
            <a:r>
              <a:rPr lang="en-US" b="true" sz="2199">
                <a:solidFill>
                  <a:srgbClr val="000000"/>
                </a:solidFill>
                <a:latin typeface="Inter Bold"/>
                <a:ea typeface="Inter Bold"/>
                <a:cs typeface="Inter Bold"/>
                <a:sym typeface="Inter Bold"/>
              </a:rPr>
              <a:t>Recommend:</a:t>
            </a:r>
            <a:r>
              <a:rPr lang="en-US" sz="2199">
                <a:solidFill>
                  <a:srgbClr val="000000"/>
                </a:solidFill>
                <a:latin typeface="Inter"/>
                <a:ea typeface="Inter"/>
                <a:cs typeface="Inter"/>
                <a:sym typeface="Inter"/>
              </a:rPr>
              <a:t> đẩy mạnh tìm kiếm khách hàng có tỉ lệ thành công cao.</a:t>
            </a:r>
          </a:p>
          <a:p>
            <a:pPr algn="just">
              <a:lnSpc>
                <a:spcPts val="2607"/>
              </a:lnSpc>
            </a:pPr>
          </a:p>
        </p:txBody>
      </p:sp>
      <p:sp>
        <p:nvSpPr>
          <p:cNvPr name="TextBox 8" id="8"/>
          <p:cNvSpPr txBox="true"/>
          <p:nvPr/>
        </p:nvSpPr>
        <p:spPr>
          <a:xfrm rot="0">
            <a:off x="329450" y="6333704"/>
            <a:ext cx="14729182" cy="4059430"/>
          </a:xfrm>
          <a:prstGeom prst="rect">
            <a:avLst/>
          </a:prstGeom>
        </p:spPr>
        <p:txBody>
          <a:bodyPr anchor="t" rtlCol="false" tIns="0" lIns="0" bIns="0" rIns="0">
            <a:spAutoFit/>
          </a:bodyPr>
          <a:lstStyle/>
          <a:p>
            <a:pPr algn="just">
              <a:lnSpc>
                <a:spcPts val="5823"/>
              </a:lnSpc>
            </a:pPr>
            <a:r>
              <a:rPr lang="en-US" sz="2799" b="true">
                <a:solidFill>
                  <a:srgbClr val="000000"/>
                </a:solidFill>
                <a:latin typeface="Inter Bold"/>
                <a:ea typeface="Inter Bold"/>
                <a:cs typeface="Inter Bold"/>
                <a:sym typeface="Inter Bold"/>
              </a:rPr>
              <a:t>2</a:t>
            </a:r>
            <a:r>
              <a:rPr lang="en-US" b="true" sz="2799">
                <a:solidFill>
                  <a:srgbClr val="000000"/>
                </a:solidFill>
                <a:latin typeface="Inter Bold"/>
                <a:ea typeface="Inter Bold"/>
                <a:cs typeface="Inter Bold"/>
                <a:sym typeface="Inter Bold"/>
              </a:rPr>
              <a:t>. Owner và deal nào cần được ưu tiên xử lý?</a:t>
            </a:r>
          </a:p>
          <a:p>
            <a:pPr algn="just" marL="474976" indent="-237488" lvl="1">
              <a:lnSpc>
                <a:spcPts val="4575"/>
              </a:lnSpc>
              <a:buFont typeface="Arial"/>
              <a:buChar char="•"/>
            </a:pPr>
            <a:r>
              <a:rPr lang="en-US" b="true" sz="2199">
                <a:solidFill>
                  <a:srgbClr val="000000"/>
                </a:solidFill>
                <a:latin typeface="Inter Bold"/>
                <a:ea typeface="Inter Bold"/>
                <a:cs typeface="Inter Bold"/>
                <a:sym typeface="Inter Bold"/>
              </a:rPr>
              <a:t>Laura Thompson</a:t>
            </a:r>
            <a:r>
              <a:rPr lang="en-US" sz="2199">
                <a:solidFill>
                  <a:srgbClr val="000000"/>
                </a:solidFill>
                <a:latin typeface="Inter"/>
                <a:ea typeface="Inter"/>
                <a:cs typeface="Inter"/>
                <a:sym typeface="Inter"/>
              </a:rPr>
              <a:t> có rủi ro lớn nhất, khoảng 70K, </a:t>
            </a:r>
            <a:r>
              <a:rPr lang="en-US" b="true" sz="2199">
                <a:solidFill>
                  <a:srgbClr val="000000"/>
                </a:solidFill>
                <a:latin typeface="Inter Bold"/>
                <a:ea typeface="Inter Bold"/>
                <a:cs typeface="Inter Bold"/>
                <a:sym typeface="Inter Bold"/>
              </a:rPr>
              <a:t>Jessica Martinez</a:t>
            </a:r>
            <a:r>
              <a:rPr lang="en-US" sz="2199">
                <a:solidFill>
                  <a:srgbClr val="000000"/>
                </a:solidFill>
                <a:latin typeface="Inter"/>
                <a:ea typeface="Inter"/>
                <a:cs typeface="Inter"/>
                <a:sym typeface="Inter"/>
              </a:rPr>
              <a:t> cũng rủi ro cao nhưng xác suất trung bình thấp hơn.</a:t>
            </a:r>
          </a:p>
          <a:p>
            <a:pPr algn="just">
              <a:lnSpc>
                <a:spcPts val="4575"/>
              </a:lnSpc>
            </a:pPr>
            <a:r>
              <a:rPr lang="en-US" sz="2199">
                <a:solidFill>
                  <a:srgbClr val="000000"/>
                </a:solidFill>
                <a:latin typeface="Inter"/>
                <a:ea typeface="Inter"/>
                <a:cs typeface="Inter"/>
                <a:sym typeface="Inter"/>
              </a:rPr>
              <a:t>=&gt; </a:t>
            </a:r>
            <a:r>
              <a:rPr lang="en-US" b="true" sz="2199">
                <a:solidFill>
                  <a:srgbClr val="000000"/>
                </a:solidFill>
                <a:latin typeface="Inter Bold"/>
                <a:ea typeface="Inter Bold"/>
                <a:cs typeface="Inter Bold"/>
                <a:sym typeface="Inter Bold"/>
              </a:rPr>
              <a:t>Insight</a:t>
            </a:r>
            <a:r>
              <a:rPr lang="en-US" sz="2199">
                <a:solidFill>
                  <a:srgbClr val="000000"/>
                </a:solidFill>
                <a:latin typeface="Inter"/>
                <a:ea typeface="Inter"/>
                <a:cs typeface="Inter"/>
                <a:sym typeface="Inter"/>
              </a:rPr>
              <a:t>: nhiều cơ hội đang ở tình trạng At-risk (nguy hiểm)</a:t>
            </a:r>
          </a:p>
          <a:p>
            <a:pPr algn="just">
              <a:lnSpc>
                <a:spcPts val="4575"/>
              </a:lnSpc>
            </a:pPr>
            <a:r>
              <a:rPr lang="en-US" b="true" sz="2199">
                <a:solidFill>
                  <a:srgbClr val="000000"/>
                </a:solidFill>
                <a:latin typeface="Inter Bold"/>
                <a:ea typeface="Inter Bold"/>
                <a:cs typeface="Inter Bold"/>
                <a:sym typeface="Inter Bold"/>
              </a:rPr>
              <a:t>=&gt; Recommend:</a:t>
            </a:r>
            <a:r>
              <a:rPr lang="en-US" sz="2199">
                <a:solidFill>
                  <a:srgbClr val="000000"/>
                </a:solidFill>
                <a:latin typeface="Inter"/>
                <a:ea typeface="Inter"/>
                <a:cs typeface="Inter"/>
                <a:sym typeface="Inter"/>
              </a:rPr>
              <a:t> </a:t>
            </a:r>
            <a:r>
              <a:rPr lang="en-US" sz="2199">
                <a:solidFill>
                  <a:srgbClr val="000000"/>
                </a:solidFill>
                <a:latin typeface="Inter"/>
                <a:ea typeface="Inter"/>
                <a:cs typeface="Inter"/>
                <a:sym typeface="Inter"/>
              </a:rPr>
              <a:t>phân bổ thời gian và nguồn lực cho các owner có pipeline rủi ro cao, tập trung thúc đẩy các deal thuộc nhóm xác suất 41–60%.</a:t>
            </a:r>
          </a:p>
          <a:p>
            <a:pPr algn="just">
              <a:lnSpc>
                <a:spcPts val="3327"/>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Freeform 5" id="5"/>
          <p:cNvSpPr/>
          <p:nvPr/>
        </p:nvSpPr>
        <p:spPr>
          <a:xfrm flipH="false" flipV="false" rot="0">
            <a:off x="6529907" y="0"/>
            <a:ext cx="11758093" cy="6556596"/>
          </a:xfrm>
          <a:custGeom>
            <a:avLst/>
            <a:gdLst/>
            <a:ahLst/>
            <a:cxnLst/>
            <a:rect r="r" b="b" t="t" l="l"/>
            <a:pathLst>
              <a:path h="6556596" w="11758093">
                <a:moveTo>
                  <a:pt x="0" y="0"/>
                </a:moveTo>
                <a:lnTo>
                  <a:pt x="11758093" y="0"/>
                </a:lnTo>
                <a:lnTo>
                  <a:pt x="11758093" y="6556596"/>
                </a:lnTo>
                <a:lnTo>
                  <a:pt x="0" y="6556596"/>
                </a:lnTo>
                <a:lnTo>
                  <a:pt x="0" y="0"/>
                </a:lnTo>
                <a:close/>
              </a:path>
            </a:pathLst>
          </a:custGeom>
          <a:blipFill>
            <a:blip r:embed="rId5"/>
            <a:stretch>
              <a:fillRect l="0" t="0" r="0" b="0"/>
            </a:stretch>
          </a:blipFill>
        </p:spPr>
      </p:sp>
      <p:sp>
        <p:nvSpPr>
          <p:cNvPr name="TextBox 6" id="6"/>
          <p:cNvSpPr txBox="true"/>
          <p:nvPr/>
        </p:nvSpPr>
        <p:spPr>
          <a:xfrm rot="0">
            <a:off x="197844" y="382806"/>
            <a:ext cx="6332063" cy="586842"/>
          </a:xfrm>
          <a:prstGeom prst="rect">
            <a:avLst/>
          </a:prstGeom>
        </p:spPr>
        <p:txBody>
          <a:bodyPr anchor="t" rtlCol="false" tIns="0" lIns="0" bIns="0" rIns="0">
            <a:spAutoFit/>
          </a:bodyPr>
          <a:lstStyle/>
          <a:p>
            <a:pPr algn="just">
              <a:lnSpc>
                <a:spcPts val="4291"/>
              </a:lnSpc>
            </a:pPr>
            <a:r>
              <a:rPr lang="en-US" b="true" sz="4614" spc="-341">
                <a:solidFill>
                  <a:srgbClr val="000000"/>
                </a:solidFill>
                <a:latin typeface="Inter Bold"/>
                <a:ea typeface="Inter Bold"/>
                <a:cs typeface="Inter Bold"/>
                <a:sym typeface="Inter Bold"/>
              </a:rPr>
              <a:t>Sales Performance</a:t>
            </a:r>
          </a:p>
        </p:txBody>
      </p:sp>
      <p:sp>
        <p:nvSpPr>
          <p:cNvPr name="TextBox 7" id="7"/>
          <p:cNvSpPr txBox="true"/>
          <p:nvPr/>
        </p:nvSpPr>
        <p:spPr>
          <a:xfrm rot="0">
            <a:off x="329450" y="1160359"/>
            <a:ext cx="5955493" cy="4280409"/>
          </a:xfrm>
          <a:prstGeom prst="rect">
            <a:avLst/>
          </a:prstGeom>
        </p:spPr>
        <p:txBody>
          <a:bodyPr anchor="t" rtlCol="false" tIns="0" lIns="0" bIns="0" rIns="0">
            <a:spAutoFit/>
          </a:bodyPr>
          <a:lstStyle/>
          <a:p>
            <a:pPr algn="just">
              <a:lnSpc>
                <a:spcPts val="4563"/>
              </a:lnSpc>
            </a:pPr>
            <a:r>
              <a:rPr lang="en-US" b="true" sz="2799">
                <a:solidFill>
                  <a:srgbClr val="000000"/>
                </a:solidFill>
                <a:latin typeface="Inter Bold"/>
                <a:ea typeface="Inter Bold"/>
                <a:cs typeface="Inter Bold"/>
                <a:sym typeface="Inter Bold"/>
              </a:rPr>
              <a:t>1. Hiệu quả bán hàng của lead được tạo trong tháng đang chọn như thế nào?</a:t>
            </a:r>
          </a:p>
          <a:p>
            <a:pPr algn="l" marL="474976" indent="-237488" lvl="1">
              <a:lnSpc>
                <a:spcPts val="3585"/>
              </a:lnSpc>
              <a:buFont typeface="Arial"/>
              <a:buChar char="•"/>
            </a:pPr>
            <a:r>
              <a:rPr lang="en-US" sz="2199">
                <a:solidFill>
                  <a:srgbClr val="000000"/>
                </a:solidFill>
                <a:latin typeface="Inter"/>
                <a:ea typeface="Inter"/>
                <a:cs typeface="Inter"/>
                <a:sym typeface="Inter"/>
              </a:rPr>
              <a:t>Hiệu quả</a:t>
            </a:r>
            <a:r>
              <a:rPr lang="en-US" sz="2199">
                <a:solidFill>
                  <a:srgbClr val="000000"/>
                </a:solidFill>
                <a:latin typeface="Inter"/>
                <a:ea typeface="Inter"/>
                <a:cs typeface="Inter"/>
                <a:sym typeface="Inter"/>
              </a:rPr>
              <a:t> t</a:t>
            </a:r>
            <a:r>
              <a:rPr lang="en-US" sz="2199">
                <a:solidFill>
                  <a:srgbClr val="000000"/>
                </a:solidFill>
                <a:latin typeface="Inter"/>
                <a:ea typeface="Inter"/>
                <a:cs typeface="Inter"/>
                <a:sym typeface="Inter"/>
              </a:rPr>
              <a:t>há</a:t>
            </a:r>
            <a:r>
              <a:rPr lang="en-US" sz="2199">
                <a:solidFill>
                  <a:srgbClr val="000000"/>
                </a:solidFill>
                <a:latin typeface="Inter"/>
                <a:ea typeface="Inter"/>
                <a:cs typeface="Inter"/>
                <a:sym typeface="Inter"/>
              </a:rPr>
              <a:t>ng </a:t>
            </a:r>
            <a:r>
              <a:rPr lang="en-US" sz="2199">
                <a:solidFill>
                  <a:srgbClr val="000000"/>
                </a:solidFill>
                <a:latin typeface="Inter"/>
                <a:ea typeface="Inter"/>
                <a:cs typeface="Inter"/>
                <a:sym typeface="Inter"/>
              </a:rPr>
              <a:t>4 </a:t>
            </a:r>
            <a:r>
              <a:rPr lang="en-US" b="true" sz="2199">
                <a:solidFill>
                  <a:srgbClr val="000000"/>
                </a:solidFill>
                <a:latin typeface="Inter Bold"/>
                <a:ea typeface="Inter Bold"/>
                <a:cs typeface="Inter Bold"/>
                <a:sym typeface="Inter Bold"/>
              </a:rPr>
              <a:t>giảm rõ rệt</a:t>
            </a:r>
            <a:r>
              <a:rPr lang="en-US" sz="2199">
                <a:solidFill>
                  <a:srgbClr val="000000"/>
                </a:solidFill>
                <a:latin typeface="Inter"/>
                <a:ea typeface="Inter"/>
                <a:cs typeface="Inter"/>
                <a:sym typeface="Inter"/>
              </a:rPr>
              <a:t>. Không chỉ số lượng deal Won giảm mà tỷ lệ thắng và quy mô trung bình mỗi deal cũng giảm.</a:t>
            </a:r>
          </a:p>
          <a:p>
            <a:pPr algn="l">
              <a:lnSpc>
                <a:spcPts val="3585"/>
              </a:lnSpc>
            </a:pPr>
            <a:r>
              <a:rPr lang="en-US" sz="2199">
                <a:solidFill>
                  <a:srgbClr val="000000"/>
                </a:solidFill>
                <a:latin typeface="Inter"/>
                <a:ea typeface="Inter"/>
                <a:cs typeface="Inter"/>
                <a:sym typeface="Inter"/>
              </a:rPr>
              <a:t>=&gt; </a:t>
            </a:r>
            <a:r>
              <a:rPr lang="en-US" sz="2199" b="true">
                <a:solidFill>
                  <a:srgbClr val="000000"/>
                </a:solidFill>
                <a:latin typeface="Inter Bold"/>
                <a:ea typeface="Inter Bold"/>
                <a:cs typeface="Inter Bold"/>
                <a:sym typeface="Inter Bold"/>
              </a:rPr>
              <a:t>Insight: </a:t>
            </a:r>
            <a:r>
              <a:rPr lang="en-US" sz="2199">
                <a:solidFill>
                  <a:srgbClr val="000000"/>
                </a:solidFill>
                <a:latin typeface="Inter"/>
                <a:ea typeface="Inter"/>
                <a:cs typeface="Inter"/>
                <a:sym typeface="Inter"/>
              </a:rPr>
              <a:t>doanh thu tháng này giảm.</a:t>
            </a:r>
          </a:p>
          <a:p>
            <a:pPr algn="just">
              <a:lnSpc>
                <a:spcPts val="2607"/>
              </a:lnSpc>
            </a:pPr>
          </a:p>
        </p:txBody>
      </p:sp>
      <p:sp>
        <p:nvSpPr>
          <p:cNvPr name="TextBox 8" id="8"/>
          <p:cNvSpPr txBox="true"/>
          <p:nvPr/>
        </p:nvSpPr>
        <p:spPr>
          <a:xfrm rot="0">
            <a:off x="329450" y="6333704"/>
            <a:ext cx="16287226" cy="4059430"/>
          </a:xfrm>
          <a:prstGeom prst="rect">
            <a:avLst/>
          </a:prstGeom>
        </p:spPr>
        <p:txBody>
          <a:bodyPr anchor="t" rtlCol="false" tIns="0" lIns="0" bIns="0" rIns="0">
            <a:spAutoFit/>
          </a:bodyPr>
          <a:lstStyle/>
          <a:p>
            <a:pPr algn="just">
              <a:lnSpc>
                <a:spcPts val="5823"/>
              </a:lnSpc>
            </a:pPr>
            <a:r>
              <a:rPr lang="en-US" sz="2799" b="true">
                <a:solidFill>
                  <a:srgbClr val="000000"/>
                </a:solidFill>
                <a:latin typeface="Inter Bold"/>
                <a:ea typeface="Inter Bold"/>
                <a:cs typeface="Inter Bold"/>
                <a:sym typeface="Inter Bold"/>
              </a:rPr>
              <a:t>2</a:t>
            </a:r>
            <a:r>
              <a:rPr lang="en-US" b="true" sz="2799">
                <a:solidFill>
                  <a:srgbClr val="000000"/>
                </a:solidFill>
                <a:latin typeface="Inter Bold"/>
                <a:ea typeface="Inter Bold"/>
                <a:cs typeface="Inter Bold"/>
                <a:sym typeface="Inter Bold"/>
              </a:rPr>
              <a:t>. Kết quả bán hàng đến từ Product và Owner nào?</a:t>
            </a:r>
          </a:p>
          <a:p>
            <a:pPr algn="just" marL="474976" indent="-237488" lvl="1">
              <a:lnSpc>
                <a:spcPts val="4575"/>
              </a:lnSpc>
              <a:buFont typeface="Arial"/>
              <a:buChar char="•"/>
            </a:pPr>
            <a:r>
              <a:rPr lang="en-US" sz="2199">
                <a:solidFill>
                  <a:srgbClr val="000000"/>
                </a:solidFill>
                <a:latin typeface="Inter"/>
                <a:ea typeface="Inter"/>
                <a:cs typeface="Inter"/>
                <a:sym typeface="Inter"/>
              </a:rPr>
              <a:t>Tỉ lệ thắng/thua theo sản phẩm khá cân bằng, kết quả trên chỉ là giảm so với tháng trước.</a:t>
            </a:r>
          </a:p>
          <a:p>
            <a:pPr algn="just" marL="474976" indent="-237488" lvl="1">
              <a:lnSpc>
                <a:spcPts val="4575"/>
              </a:lnSpc>
              <a:buFont typeface="Arial"/>
              <a:buChar char="•"/>
            </a:pPr>
            <a:r>
              <a:rPr lang="en-US" sz="2199">
                <a:solidFill>
                  <a:srgbClr val="000000"/>
                </a:solidFill>
                <a:latin typeface="Inter"/>
                <a:ea typeface="Inter"/>
                <a:cs typeface="Inter"/>
                <a:sym typeface="Inter"/>
              </a:rPr>
              <a:t>Giá trị mang lại theo Ower: có sự cách biệt rõ ràng giữa top 3 và phần còn lại.</a:t>
            </a:r>
          </a:p>
          <a:p>
            <a:pPr algn="just">
              <a:lnSpc>
                <a:spcPts val="4575"/>
              </a:lnSpc>
            </a:pPr>
            <a:r>
              <a:rPr lang="en-US" b="true" sz="2199">
                <a:solidFill>
                  <a:srgbClr val="000000"/>
                </a:solidFill>
                <a:latin typeface="Inter Bold"/>
                <a:ea typeface="Inter Bold"/>
                <a:cs typeface="Inter Bold"/>
                <a:sym typeface="Inter Bold"/>
              </a:rPr>
              <a:t>=&gt; Insight</a:t>
            </a:r>
            <a:r>
              <a:rPr lang="en-US" sz="2199">
                <a:solidFill>
                  <a:srgbClr val="000000"/>
                </a:solidFill>
                <a:latin typeface="Inter"/>
                <a:ea typeface="Inter"/>
                <a:cs typeface="Inter"/>
                <a:sym typeface="Inter"/>
              </a:rPr>
              <a:t>: Won Deal Value tháng 4 </a:t>
            </a:r>
            <a:r>
              <a:rPr lang="en-US" b="true" sz="2199">
                <a:solidFill>
                  <a:srgbClr val="000000"/>
                </a:solidFill>
                <a:latin typeface="Inter Bold"/>
                <a:ea typeface="Inter Bold"/>
                <a:cs typeface="Inter Bold"/>
                <a:sym typeface="Inter Bold"/>
              </a:rPr>
              <a:t>đang tập trung rất lớn vào Laura Thompson (17.7 k)</a:t>
            </a:r>
            <a:r>
              <a:rPr lang="en-US" sz="2199">
                <a:solidFill>
                  <a:srgbClr val="000000"/>
                </a:solidFill>
                <a:latin typeface="Inter"/>
                <a:ea typeface="Inter"/>
                <a:cs typeface="Inter"/>
                <a:sym typeface="Inter"/>
              </a:rPr>
              <a:t>. Kết quả chung có thể phụ thuộc nhiều vào một Owner, trong khi</a:t>
            </a:r>
            <a:r>
              <a:rPr lang="en-US" b="true" sz="2199">
                <a:solidFill>
                  <a:srgbClr val="000000"/>
                </a:solidFill>
                <a:latin typeface="Inter Bold"/>
                <a:ea typeface="Inter Bold"/>
                <a:cs typeface="Inter Bold"/>
                <a:sym typeface="Inter Bold"/>
              </a:rPr>
              <a:t> phần lớn đội ngũ có mức đóng góp thấp.</a:t>
            </a:r>
          </a:p>
          <a:p>
            <a:pPr algn="just">
              <a:lnSpc>
                <a:spcPts val="4575"/>
              </a:lnSpc>
            </a:pPr>
            <a:r>
              <a:rPr lang="en-US" b="true" sz="2199">
                <a:solidFill>
                  <a:srgbClr val="000000"/>
                </a:solidFill>
                <a:latin typeface="Inter Bold"/>
                <a:ea typeface="Inter Bold"/>
                <a:cs typeface="Inter Bold"/>
                <a:sym typeface="Inter Bold"/>
              </a:rPr>
              <a:t>=&gt; Recommend: </a:t>
            </a:r>
            <a:r>
              <a:rPr lang="en-US" sz="2199">
                <a:solidFill>
                  <a:srgbClr val="000000"/>
                </a:solidFill>
                <a:latin typeface="Inter"/>
                <a:ea typeface="Inter"/>
                <a:cs typeface="Inter"/>
                <a:sym typeface="Inter"/>
              </a:rPr>
              <a:t>d</a:t>
            </a:r>
            <a:r>
              <a:rPr lang="en-US" sz="2199">
                <a:solidFill>
                  <a:srgbClr val="000000"/>
                </a:solidFill>
                <a:latin typeface="Inter"/>
                <a:ea typeface="Inter"/>
                <a:cs typeface="Inter"/>
                <a:sym typeface="Inter"/>
              </a:rPr>
              <a:t>oanh nghiệp nên kiểm tra nguyên nhân giảm chất lượng deal và khoảng cách hiệu suất giữa các Owner.</a:t>
            </a:r>
          </a:p>
          <a:p>
            <a:pPr algn="just">
              <a:lnSpc>
                <a:spcPts val="332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Freeform 5" id="5"/>
          <p:cNvSpPr/>
          <p:nvPr/>
        </p:nvSpPr>
        <p:spPr>
          <a:xfrm flipH="false" flipV="false" rot="0">
            <a:off x="6452093" y="0"/>
            <a:ext cx="11835907" cy="6581354"/>
          </a:xfrm>
          <a:custGeom>
            <a:avLst/>
            <a:gdLst/>
            <a:ahLst/>
            <a:cxnLst/>
            <a:rect r="r" b="b" t="t" l="l"/>
            <a:pathLst>
              <a:path h="6581354" w="11835907">
                <a:moveTo>
                  <a:pt x="0" y="0"/>
                </a:moveTo>
                <a:lnTo>
                  <a:pt x="11835907" y="0"/>
                </a:lnTo>
                <a:lnTo>
                  <a:pt x="11835907" y="6581354"/>
                </a:lnTo>
                <a:lnTo>
                  <a:pt x="0" y="6581354"/>
                </a:lnTo>
                <a:lnTo>
                  <a:pt x="0" y="0"/>
                </a:lnTo>
                <a:close/>
              </a:path>
            </a:pathLst>
          </a:custGeom>
          <a:blipFill>
            <a:blip r:embed="rId5"/>
            <a:stretch>
              <a:fillRect l="0" t="0" r="0" b="0"/>
            </a:stretch>
          </a:blipFill>
        </p:spPr>
      </p:sp>
      <p:sp>
        <p:nvSpPr>
          <p:cNvPr name="TextBox 6" id="6"/>
          <p:cNvSpPr txBox="true"/>
          <p:nvPr/>
        </p:nvSpPr>
        <p:spPr>
          <a:xfrm rot="0">
            <a:off x="197844" y="382806"/>
            <a:ext cx="6332063" cy="586842"/>
          </a:xfrm>
          <a:prstGeom prst="rect">
            <a:avLst/>
          </a:prstGeom>
        </p:spPr>
        <p:txBody>
          <a:bodyPr anchor="t" rtlCol="false" tIns="0" lIns="0" bIns="0" rIns="0">
            <a:spAutoFit/>
          </a:bodyPr>
          <a:lstStyle/>
          <a:p>
            <a:pPr algn="just">
              <a:lnSpc>
                <a:spcPts val="4291"/>
              </a:lnSpc>
            </a:pPr>
            <a:r>
              <a:rPr lang="en-US" b="true" sz="4614" spc="-341">
                <a:solidFill>
                  <a:srgbClr val="000000"/>
                </a:solidFill>
                <a:latin typeface="Inter Bold"/>
                <a:ea typeface="Inter Bold"/>
                <a:cs typeface="Inter Bold"/>
                <a:sym typeface="Inter Bold"/>
              </a:rPr>
              <a:t>Customer Insights</a:t>
            </a:r>
          </a:p>
        </p:txBody>
      </p:sp>
      <p:sp>
        <p:nvSpPr>
          <p:cNvPr name="TextBox 7" id="7"/>
          <p:cNvSpPr txBox="true"/>
          <p:nvPr/>
        </p:nvSpPr>
        <p:spPr>
          <a:xfrm rot="0">
            <a:off x="197844" y="1071086"/>
            <a:ext cx="6122643" cy="5051934"/>
          </a:xfrm>
          <a:prstGeom prst="rect">
            <a:avLst/>
          </a:prstGeom>
        </p:spPr>
        <p:txBody>
          <a:bodyPr anchor="t" rtlCol="false" tIns="0" lIns="0" bIns="0" rIns="0">
            <a:spAutoFit/>
          </a:bodyPr>
          <a:lstStyle/>
          <a:p>
            <a:pPr algn="just">
              <a:lnSpc>
                <a:spcPts val="4563"/>
              </a:lnSpc>
            </a:pPr>
            <a:r>
              <a:rPr lang="en-US" b="true" sz="2799">
                <a:solidFill>
                  <a:srgbClr val="000000"/>
                </a:solidFill>
                <a:latin typeface="Inter Bold"/>
                <a:ea typeface="Inter Bold"/>
                <a:cs typeface="Inter Bold"/>
                <a:sym typeface="Inter Bold"/>
              </a:rPr>
              <a:t>1. Khách hàng tập trung ở ngành nào?</a:t>
            </a:r>
          </a:p>
          <a:p>
            <a:pPr algn="l" marL="474976" indent="-237488" lvl="1">
              <a:lnSpc>
                <a:spcPts val="3585"/>
              </a:lnSpc>
              <a:buFont typeface="Arial"/>
              <a:buChar char="•"/>
            </a:pPr>
            <a:r>
              <a:rPr lang="en-US" sz="2199">
                <a:solidFill>
                  <a:srgbClr val="000000"/>
                </a:solidFill>
                <a:latin typeface="Inter"/>
                <a:ea typeface="Inter"/>
                <a:cs typeface="Inter"/>
                <a:sym typeface="Inter"/>
              </a:rPr>
              <a:t>Transportation &amp; Logistics có quy mô lớn nhất: tổng cộng</a:t>
            </a:r>
            <a:r>
              <a:rPr lang="en-US" b="true" sz="2199">
                <a:solidFill>
                  <a:srgbClr val="000000"/>
                </a:solidFill>
                <a:latin typeface="Inter Bold"/>
                <a:ea typeface="Inter Bold"/>
                <a:cs typeface="Inter Bold"/>
                <a:sym typeface="Inter Bold"/>
              </a:rPr>
              <a:t> 20 khách hàng</a:t>
            </a:r>
            <a:r>
              <a:rPr lang="en-US" sz="2199">
                <a:solidFill>
                  <a:srgbClr val="000000"/>
                </a:solidFill>
                <a:latin typeface="Inter"/>
                <a:ea typeface="Inter"/>
                <a:cs typeface="Inter"/>
                <a:sym typeface="Inter"/>
              </a:rPr>
              <a:t>.</a:t>
            </a:r>
          </a:p>
          <a:p>
            <a:pPr algn="just">
              <a:lnSpc>
                <a:spcPts val="3585"/>
              </a:lnSpc>
            </a:pPr>
            <a:r>
              <a:rPr lang="en-US" sz="2199">
                <a:solidFill>
                  <a:srgbClr val="000000"/>
                </a:solidFill>
                <a:latin typeface="Inter"/>
                <a:ea typeface="Inter"/>
                <a:cs typeface="Inter"/>
                <a:sym typeface="Inter"/>
              </a:rPr>
              <a:t>=&gt; </a:t>
            </a:r>
            <a:r>
              <a:rPr lang="en-US" b="true" sz="2199">
                <a:solidFill>
                  <a:srgbClr val="000000"/>
                </a:solidFill>
                <a:latin typeface="Inter Bold"/>
                <a:ea typeface="Inter Bold"/>
                <a:cs typeface="Inter Bold"/>
                <a:sym typeface="Inter Bold"/>
              </a:rPr>
              <a:t>Insight: </a:t>
            </a:r>
            <a:r>
              <a:rPr lang="en-US" sz="2199">
                <a:solidFill>
                  <a:srgbClr val="000000"/>
                </a:solidFill>
                <a:latin typeface="Inter"/>
                <a:ea typeface="Inter"/>
                <a:cs typeface="Inter"/>
                <a:sym typeface="Inter"/>
              </a:rPr>
              <a:t>Transportation &amp; Logistics có nhiều trường hợp ngừng làm khách hàng mặc dù tỉ lệ vẫn ngang bằng</a:t>
            </a:r>
          </a:p>
          <a:p>
            <a:pPr algn="just">
              <a:lnSpc>
                <a:spcPts val="3585"/>
              </a:lnSpc>
            </a:pPr>
            <a:r>
              <a:rPr lang="en-US" sz="2199">
                <a:solidFill>
                  <a:srgbClr val="000000"/>
                </a:solidFill>
                <a:latin typeface="Inter"/>
                <a:ea typeface="Inter"/>
                <a:cs typeface="Inter"/>
                <a:sym typeface="Inter"/>
              </a:rPr>
              <a:t>=&gt; </a:t>
            </a:r>
            <a:r>
              <a:rPr lang="en-US" b="true" sz="2199">
                <a:solidFill>
                  <a:srgbClr val="000000"/>
                </a:solidFill>
                <a:latin typeface="Inter Bold"/>
                <a:ea typeface="Inter Bold"/>
                <a:cs typeface="Inter Bold"/>
                <a:sym typeface="Inter Bold"/>
              </a:rPr>
              <a:t>Recommend: </a:t>
            </a:r>
            <a:r>
              <a:rPr lang="en-US" sz="2199">
                <a:solidFill>
                  <a:srgbClr val="000000"/>
                </a:solidFill>
                <a:latin typeface="Inter"/>
                <a:ea typeface="Inter"/>
                <a:cs typeface="Inter"/>
                <a:sym typeface="Inter"/>
              </a:rPr>
              <a:t>d</a:t>
            </a:r>
            <a:r>
              <a:rPr lang="en-US" sz="2199">
                <a:solidFill>
                  <a:srgbClr val="000000"/>
                </a:solidFill>
                <a:latin typeface="Inter"/>
                <a:ea typeface="Inter"/>
                <a:cs typeface="Inter"/>
                <a:sym typeface="Inter"/>
              </a:rPr>
              <a:t>o</a:t>
            </a:r>
            <a:r>
              <a:rPr lang="en-US" sz="2199">
                <a:solidFill>
                  <a:srgbClr val="000000"/>
                </a:solidFill>
                <a:latin typeface="Inter"/>
                <a:ea typeface="Inter"/>
                <a:cs typeface="Inter"/>
                <a:sym typeface="Inter"/>
              </a:rPr>
              <a:t>a</a:t>
            </a:r>
            <a:r>
              <a:rPr lang="en-US" sz="2199">
                <a:solidFill>
                  <a:srgbClr val="000000"/>
                </a:solidFill>
                <a:latin typeface="Inter"/>
                <a:ea typeface="Inter"/>
                <a:cs typeface="Inter"/>
                <a:sym typeface="Inter"/>
              </a:rPr>
              <a:t>n</a:t>
            </a:r>
            <a:r>
              <a:rPr lang="en-US" sz="2199">
                <a:solidFill>
                  <a:srgbClr val="000000"/>
                </a:solidFill>
                <a:latin typeface="Inter"/>
                <a:ea typeface="Inter"/>
                <a:cs typeface="Inter"/>
                <a:sym typeface="Inter"/>
              </a:rPr>
              <a:t>h nghiệp có thể xác định</a:t>
            </a:r>
            <a:r>
              <a:rPr lang="en-US" sz="2199">
                <a:solidFill>
                  <a:srgbClr val="000000"/>
                </a:solidFill>
                <a:latin typeface="Inter"/>
                <a:ea typeface="Inter"/>
                <a:cs typeface="Inter"/>
                <a:sym typeface="Inter"/>
              </a:rPr>
              <a:t> </a:t>
            </a:r>
            <a:r>
              <a:rPr lang="en-US" sz="2199">
                <a:solidFill>
                  <a:srgbClr val="000000"/>
                </a:solidFill>
                <a:latin typeface="Inter"/>
                <a:ea typeface="Inter"/>
                <a:cs typeface="Inter"/>
                <a:sym typeface="Inter"/>
              </a:rPr>
              <a:t>ngành nào đóng góp nhiều khách hàng và ngành nào đ</a:t>
            </a:r>
            <a:r>
              <a:rPr lang="en-US" sz="2199">
                <a:solidFill>
                  <a:srgbClr val="000000"/>
                </a:solidFill>
                <a:latin typeface="Inter"/>
                <a:ea typeface="Inter"/>
                <a:cs typeface="Inter"/>
                <a:sym typeface="Inter"/>
              </a:rPr>
              <a:t>a</a:t>
            </a:r>
            <a:r>
              <a:rPr lang="en-US" sz="2199">
                <a:solidFill>
                  <a:srgbClr val="000000"/>
                </a:solidFill>
                <a:latin typeface="Inter"/>
                <a:ea typeface="Inter"/>
                <a:cs typeface="Inter"/>
                <a:sym typeface="Inter"/>
              </a:rPr>
              <a:t>ng gặp vấn đề giữ chân</a:t>
            </a:r>
            <a:r>
              <a:rPr lang="en-US" sz="2199">
                <a:solidFill>
                  <a:srgbClr val="000000"/>
                </a:solidFill>
                <a:latin typeface="Inter"/>
                <a:ea typeface="Inter"/>
                <a:cs typeface="Inter"/>
                <a:sym typeface="Inter"/>
              </a:rPr>
              <a:t>.</a:t>
            </a:r>
          </a:p>
          <a:p>
            <a:pPr algn="just">
              <a:lnSpc>
                <a:spcPts val="2607"/>
              </a:lnSpc>
            </a:pPr>
          </a:p>
        </p:txBody>
      </p:sp>
      <p:sp>
        <p:nvSpPr>
          <p:cNvPr name="TextBox 8" id="8"/>
          <p:cNvSpPr txBox="true"/>
          <p:nvPr/>
        </p:nvSpPr>
        <p:spPr>
          <a:xfrm rot="0">
            <a:off x="329450" y="6333704"/>
            <a:ext cx="15700092" cy="4211830"/>
          </a:xfrm>
          <a:prstGeom prst="rect">
            <a:avLst/>
          </a:prstGeom>
        </p:spPr>
        <p:txBody>
          <a:bodyPr anchor="t" rtlCol="false" tIns="0" lIns="0" bIns="0" rIns="0">
            <a:spAutoFit/>
          </a:bodyPr>
          <a:lstStyle/>
          <a:p>
            <a:pPr algn="just">
              <a:lnSpc>
                <a:spcPts val="5823"/>
              </a:lnSpc>
            </a:pPr>
            <a:r>
              <a:rPr lang="en-US" sz="2799" b="true">
                <a:solidFill>
                  <a:srgbClr val="000000"/>
                </a:solidFill>
                <a:latin typeface="Inter Bold"/>
                <a:ea typeface="Inter Bold"/>
                <a:cs typeface="Inter Bold"/>
                <a:sym typeface="Inter Bold"/>
              </a:rPr>
              <a:t>2</a:t>
            </a:r>
            <a:r>
              <a:rPr lang="en-US" b="true" sz="2799">
                <a:solidFill>
                  <a:srgbClr val="000000"/>
                </a:solidFill>
                <a:latin typeface="Inter Bold"/>
                <a:ea typeface="Inter Bold"/>
                <a:cs typeface="Inter Bold"/>
                <a:sym typeface="Inter Bold"/>
              </a:rPr>
              <a:t>. Quy mô doanh nghiệp nào có rủi ro churn cao nhất?</a:t>
            </a:r>
          </a:p>
          <a:p>
            <a:pPr algn="just" marL="474976" indent="-237488" lvl="1">
              <a:lnSpc>
                <a:spcPts val="4575"/>
              </a:lnSpc>
              <a:buFont typeface="Arial"/>
              <a:buChar char="•"/>
            </a:pPr>
            <a:r>
              <a:rPr lang="en-US" sz="2199">
                <a:solidFill>
                  <a:srgbClr val="000000"/>
                </a:solidFill>
                <a:latin typeface="Inter"/>
                <a:ea typeface="Inter"/>
                <a:cs typeface="Inter"/>
                <a:sym typeface="Inter"/>
              </a:rPr>
              <a:t>Nhóm</a:t>
            </a:r>
            <a:r>
              <a:rPr lang="en-US" b="true" sz="2199">
                <a:solidFill>
                  <a:srgbClr val="000000"/>
                </a:solidFill>
                <a:latin typeface="Inter Bold"/>
                <a:ea typeface="Inter Bold"/>
                <a:cs typeface="Inter Bold"/>
                <a:sym typeface="Inter Bold"/>
              </a:rPr>
              <a:t> Large có churn rate cao nhất</a:t>
            </a:r>
            <a:r>
              <a:rPr lang="en-US" sz="2199">
                <a:solidFill>
                  <a:srgbClr val="000000"/>
                </a:solidFill>
                <a:latin typeface="Inter"/>
                <a:ea typeface="Inter"/>
                <a:cs typeface="Inter"/>
                <a:sym typeface="Inter"/>
              </a:rPr>
              <a:t> và cần được ưu tiên kiểm tr</a:t>
            </a:r>
            <a:r>
              <a:rPr lang="en-US" sz="2199">
                <a:solidFill>
                  <a:srgbClr val="000000"/>
                </a:solidFill>
                <a:latin typeface="Inter"/>
                <a:ea typeface="Inter"/>
                <a:cs typeface="Inter"/>
                <a:sym typeface="Inter"/>
              </a:rPr>
              <a:t>a nguyên nhân (17 khách hàng)</a:t>
            </a:r>
          </a:p>
          <a:p>
            <a:pPr algn="just">
              <a:lnSpc>
                <a:spcPts val="5823"/>
              </a:lnSpc>
            </a:pPr>
            <a:r>
              <a:rPr lang="en-US" b="true" sz="2799">
                <a:solidFill>
                  <a:srgbClr val="000000"/>
                </a:solidFill>
                <a:latin typeface="Inter Bold"/>
                <a:ea typeface="Inter Bold"/>
                <a:cs typeface="Inter Bold"/>
                <a:sym typeface="Inter Bold"/>
              </a:rPr>
              <a:t>3. Probability có dự đoán đúng khả năng chuyển đổi không?</a:t>
            </a:r>
          </a:p>
          <a:p>
            <a:pPr algn="l" marL="474983" indent="-237491" lvl="1">
              <a:lnSpc>
                <a:spcPts val="4576"/>
              </a:lnSpc>
              <a:buFont typeface="Arial"/>
              <a:buChar char="•"/>
            </a:pPr>
            <a:r>
              <a:rPr lang="en-US" sz="2200">
                <a:solidFill>
                  <a:srgbClr val="000000"/>
                </a:solidFill>
                <a:latin typeface="Inter"/>
                <a:ea typeface="Inter"/>
                <a:cs typeface="Inter"/>
                <a:sym typeface="Inter"/>
              </a:rPr>
              <a:t>Nhóm 81–100% có </a:t>
            </a:r>
            <a:r>
              <a:rPr lang="en-US" b="true" sz="2200">
                <a:solidFill>
                  <a:srgbClr val="000000"/>
                </a:solidFill>
                <a:latin typeface="Inter Bold"/>
                <a:ea typeface="Inter Bold"/>
                <a:cs typeface="Inter Bold"/>
                <a:sym typeface="Inter Bold"/>
              </a:rPr>
              <a:t>conversion rate cao nhất</a:t>
            </a:r>
            <a:r>
              <a:rPr lang="en-US" sz="2200">
                <a:solidFill>
                  <a:srgbClr val="000000"/>
                </a:solidFill>
                <a:latin typeface="Inter"/>
                <a:ea typeface="Inter"/>
                <a:cs typeface="Inter"/>
                <a:sym typeface="Inter"/>
              </a:rPr>
              <a:t>, tuy nhiên, </a:t>
            </a:r>
            <a:r>
              <a:rPr lang="en-US" b="true" sz="2200">
                <a:solidFill>
                  <a:srgbClr val="000000"/>
                </a:solidFill>
                <a:latin typeface="Inter Bold"/>
                <a:ea typeface="Inter Bold"/>
                <a:cs typeface="Inter Bold"/>
                <a:sym typeface="Inter Bold"/>
              </a:rPr>
              <a:t>tỷ lệ chuyển đổi không tăng đều</a:t>
            </a:r>
            <a:r>
              <a:rPr lang="en-US" sz="2200">
                <a:solidFill>
                  <a:srgbClr val="000000"/>
                </a:solidFill>
                <a:latin typeface="Inter"/>
                <a:ea typeface="Inter"/>
                <a:cs typeface="Inter"/>
                <a:sym typeface="Inter"/>
              </a:rPr>
              <a:t> theo Probability</a:t>
            </a:r>
          </a:p>
          <a:p>
            <a:pPr algn="just">
              <a:lnSpc>
                <a:spcPts val="4575"/>
              </a:lnSpc>
            </a:pPr>
            <a:r>
              <a:rPr lang="en-US" b="true" sz="2199">
                <a:solidFill>
                  <a:srgbClr val="000000"/>
                </a:solidFill>
                <a:latin typeface="Inter Bold"/>
                <a:ea typeface="Inter Bold"/>
                <a:cs typeface="Inter Bold"/>
                <a:sym typeface="Inter Bold"/>
              </a:rPr>
              <a:t>=&gt;</a:t>
            </a:r>
            <a:r>
              <a:rPr lang="en-US" sz="2199">
                <a:solidFill>
                  <a:srgbClr val="000000"/>
                </a:solidFill>
                <a:latin typeface="Inter"/>
                <a:ea typeface="Inter"/>
                <a:cs typeface="Inter"/>
                <a:sym typeface="Inter"/>
              </a:rPr>
              <a:t> </a:t>
            </a:r>
            <a:r>
              <a:rPr lang="en-US" b="true" sz="2199">
                <a:solidFill>
                  <a:srgbClr val="000000"/>
                </a:solidFill>
                <a:latin typeface="Inter Bold"/>
                <a:ea typeface="Inter Bold"/>
                <a:cs typeface="Inter Bold"/>
                <a:sym typeface="Inter Bold"/>
              </a:rPr>
              <a:t>Insight</a:t>
            </a:r>
            <a:r>
              <a:rPr lang="en-US" sz="2199">
                <a:solidFill>
                  <a:srgbClr val="000000"/>
                </a:solidFill>
                <a:latin typeface="Inter"/>
                <a:ea typeface="Inter"/>
                <a:cs typeface="Inter"/>
                <a:sym typeface="Inter"/>
              </a:rPr>
              <a:t>: điề</a:t>
            </a:r>
            <a:r>
              <a:rPr lang="en-US" sz="2199">
                <a:solidFill>
                  <a:srgbClr val="000000"/>
                </a:solidFill>
                <a:latin typeface="Inter"/>
                <a:ea typeface="Inter"/>
                <a:cs typeface="Inter"/>
                <a:sym typeface="Inter"/>
              </a:rPr>
              <a:t>u nà</a:t>
            </a:r>
            <a:r>
              <a:rPr lang="en-US" sz="2199">
                <a:solidFill>
                  <a:srgbClr val="000000"/>
                </a:solidFill>
                <a:latin typeface="Inter"/>
                <a:ea typeface="Inter"/>
                <a:cs typeface="Inter"/>
                <a:sym typeface="Inter"/>
              </a:rPr>
              <a:t>y</a:t>
            </a:r>
            <a:r>
              <a:rPr lang="en-US" sz="2199">
                <a:solidFill>
                  <a:srgbClr val="000000"/>
                </a:solidFill>
                <a:latin typeface="Inter"/>
                <a:ea typeface="Inter"/>
                <a:cs typeface="Inter"/>
                <a:sym typeface="Inter"/>
              </a:rPr>
              <a:t> cho </a:t>
            </a:r>
            <a:r>
              <a:rPr lang="en-US" sz="2199">
                <a:solidFill>
                  <a:srgbClr val="000000"/>
                </a:solidFill>
                <a:latin typeface="Inter"/>
                <a:ea typeface="Inter"/>
                <a:cs typeface="Inter"/>
                <a:sym typeface="Inter"/>
              </a:rPr>
              <a:t>thấy cách sales</a:t>
            </a:r>
            <a:r>
              <a:rPr lang="en-US" sz="2199">
                <a:solidFill>
                  <a:srgbClr val="000000"/>
                </a:solidFill>
                <a:latin typeface="Inter"/>
                <a:ea typeface="Inter"/>
                <a:cs typeface="Inter"/>
                <a:sym typeface="Inter"/>
              </a:rPr>
              <a:t> </a:t>
            </a:r>
            <a:r>
              <a:rPr lang="en-US" sz="2199">
                <a:solidFill>
                  <a:srgbClr val="000000"/>
                </a:solidFill>
                <a:latin typeface="Inter"/>
                <a:ea typeface="Inter"/>
                <a:cs typeface="Inter"/>
                <a:sym typeface="Inter"/>
              </a:rPr>
              <a:t>team</a:t>
            </a:r>
            <a:r>
              <a:rPr lang="en-US" sz="2199">
                <a:solidFill>
                  <a:srgbClr val="000000"/>
                </a:solidFill>
                <a:latin typeface="Inter"/>
                <a:ea typeface="Inter"/>
                <a:cs typeface="Inter"/>
                <a:sym typeface="Inter"/>
              </a:rPr>
              <a:t> đánh giá</a:t>
            </a:r>
            <a:r>
              <a:rPr lang="en-US" sz="2199">
                <a:solidFill>
                  <a:srgbClr val="000000"/>
                </a:solidFill>
                <a:latin typeface="Inter"/>
                <a:ea typeface="Inter"/>
                <a:cs typeface="Inter"/>
                <a:sym typeface="Inter"/>
              </a:rPr>
              <a:t> Probability chưa được hiệu chỉnh hoàn toàn ổn định.</a:t>
            </a:r>
          </a:p>
          <a:p>
            <a:pPr algn="just">
              <a:lnSpc>
                <a:spcPts val="4575"/>
              </a:lnSpc>
            </a:pPr>
            <a:r>
              <a:rPr lang="en-US" b="true" sz="2199">
                <a:solidFill>
                  <a:srgbClr val="000000"/>
                </a:solidFill>
                <a:latin typeface="Inter Bold"/>
                <a:ea typeface="Inter Bold"/>
                <a:cs typeface="Inter Bold"/>
                <a:sym typeface="Inter Bold"/>
              </a:rPr>
              <a:t>=&gt; Recommend: </a:t>
            </a:r>
            <a:r>
              <a:rPr lang="en-US" sz="2199">
                <a:solidFill>
                  <a:srgbClr val="000000"/>
                </a:solidFill>
                <a:latin typeface="Inter"/>
                <a:ea typeface="Inter"/>
                <a:cs typeface="Inter"/>
                <a:sym typeface="Inter"/>
              </a:rPr>
              <a:t>Nên kiểm định lại cách đánh giá Probability.</a:t>
            </a:r>
          </a:p>
          <a:p>
            <a:pPr algn="just">
              <a:lnSpc>
                <a:spcPts val="3327"/>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TextBox 5" id="5"/>
          <p:cNvSpPr txBox="true"/>
          <p:nvPr/>
        </p:nvSpPr>
        <p:spPr>
          <a:xfrm rot="0">
            <a:off x="197844" y="382806"/>
            <a:ext cx="6332063" cy="586842"/>
          </a:xfrm>
          <a:prstGeom prst="rect">
            <a:avLst/>
          </a:prstGeom>
        </p:spPr>
        <p:txBody>
          <a:bodyPr anchor="t" rtlCol="false" tIns="0" lIns="0" bIns="0" rIns="0">
            <a:spAutoFit/>
          </a:bodyPr>
          <a:lstStyle/>
          <a:p>
            <a:pPr algn="just">
              <a:lnSpc>
                <a:spcPts val="4291"/>
              </a:lnSpc>
            </a:pPr>
            <a:r>
              <a:rPr lang="en-US" b="true" sz="4614" spc="-341">
                <a:solidFill>
                  <a:srgbClr val="000000"/>
                </a:solidFill>
                <a:latin typeface="Inter Bold"/>
                <a:ea typeface="Inter Bold"/>
                <a:cs typeface="Inter Bold"/>
                <a:sym typeface="Inter Bold"/>
              </a:rPr>
              <a:t>Li</a:t>
            </a:r>
            <a:r>
              <a:rPr lang="en-US" b="true" sz="4614" spc="-341">
                <a:solidFill>
                  <a:srgbClr val="000000"/>
                </a:solidFill>
                <a:latin typeface="Inter Bold"/>
                <a:ea typeface="Inter Bold"/>
                <a:cs typeface="Inter Bold"/>
                <a:sym typeface="Inter Bold"/>
              </a:rPr>
              <a:t>mitations</a:t>
            </a:r>
          </a:p>
        </p:txBody>
      </p:sp>
      <p:sp>
        <p:nvSpPr>
          <p:cNvPr name="TextBox 6" id="6"/>
          <p:cNvSpPr txBox="true"/>
          <p:nvPr/>
        </p:nvSpPr>
        <p:spPr>
          <a:xfrm rot="0">
            <a:off x="857870" y="1744534"/>
            <a:ext cx="15700092" cy="1503045"/>
          </a:xfrm>
          <a:prstGeom prst="rect">
            <a:avLst/>
          </a:prstGeom>
        </p:spPr>
        <p:txBody>
          <a:bodyPr anchor="t" rtlCol="false" tIns="0" lIns="0" bIns="0" rIns="0">
            <a:spAutoFit/>
          </a:bodyPr>
          <a:lstStyle/>
          <a:p>
            <a:pPr algn="l" marL="647700" indent="-323850" lvl="1">
              <a:lnSpc>
                <a:spcPts val="6240"/>
              </a:lnSpc>
              <a:buFont typeface="Arial"/>
              <a:buChar char="•"/>
            </a:pPr>
            <a:r>
              <a:rPr lang="en-US" sz="3000">
                <a:solidFill>
                  <a:srgbClr val="000000"/>
                </a:solidFill>
                <a:latin typeface="Inter"/>
                <a:ea typeface="Inter"/>
                <a:cs typeface="Inter"/>
                <a:sym typeface="Inter"/>
              </a:rPr>
              <a:t>D</a:t>
            </a:r>
            <a:r>
              <a:rPr lang="en-US" sz="3000">
                <a:solidFill>
                  <a:srgbClr val="000000"/>
                </a:solidFill>
                <a:latin typeface="Inter"/>
                <a:ea typeface="Inter"/>
                <a:cs typeface="Inter"/>
                <a:sym typeface="Inter"/>
              </a:rPr>
              <a:t>ataset là historical data nên không chứng minh causality</a:t>
            </a:r>
          </a:p>
          <a:p>
            <a:pPr algn="l" marL="647700" indent="-323850" lvl="1">
              <a:lnSpc>
                <a:spcPts val="6240"/>
              </a:lnSpc>
              <a:buFont typeface="Arial"/>
              <a:buChar char="•"/>
            </a:pPr>
            <a:r>
              <a:rPr lang="en-US" sz="3000">
                <a:solidFill>
                  <a:srgbClr val="000000"/>
                </a:solidFill>
                <a:latin typeface="Inter"/>
                <a:ea typeface="Inter"/>
                <a:cs typeface="Inter"/>
                <a:sym typeface="Inter"/>
              </a:rPr>
              <a:t> Actual Close Date bị thiếu nhiều nên một số phân tích close-date bị hạn chế</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TextBox 5" id="5"/>
          <p:cNvSpPr txBox="true"/>
          <p:nvPr/>
        </p:nvSpPr>
        <p:spPr>
          <a:xfrm rot="0">
            <a:off x="197844" y="382806"/>
            <a:ext cx="6332063" cy="586842"/>
          </a:xfrm>
          <a:prstGeom prst="rect">
            <a:avLst/>
          </a:prstGeom>
        </p:spPr>
        <p:txBody>
          <a:bodyPr anchor="t" rtlCol="false" tIns="0" lIns="0" bIns="0" rIns="0">
            <a:spAutoFit/>
          </a:bodyPr>
          <a:lstStyle/>
          <a:p>
            <a:pPr algn="just">
              <a:lnSpc>
                <a:spcPts val="4291"/>
              </a:lnSpc>
            </a:pPr>
            <a:r>
              <a:rPr lang="en-US" b="true" sz="4614" spc="-341">
                <a:solidFill>
                  <a:srgbClr val="000000"/>
                </a:solidFill>
                <a:latin typeface="Inter Bold"/>
                <a:ea typeface="Inter Bold"/>
                <a:cs typeface="Inter Bold"/>
                <a:sym typeface="Inter Bold"/>
              </a:rPr>
              <a:t>Execut</a:t>
            </a:r>
            <a:r>
              <a:rPr lang="en-US" b="true" sz="4614" spc="-341">
                <a:solidFill>
                  <a:srgbClr val="000000"/>
                </a:solidFill>
                <a:latin typeface="Inter Bold"/>
                <a:ea typeface="Inter Bold"/>
                <a:cs typeface="Inter Bold"/>
                <a:sym typeface="Inter Bold"/>
              </a:rPr>
              <a:t>ive Summary</a:t>
            </a:r>
          </a:p>
        </p:txBody>
      </p:sp>
      <p:sp>
        <p:nvSpPr>
          <p:cNvPr name="TextBox 6" id="6"/>
          <p:cNvSpPr txBox="true"/>
          <p:nvPr/>
        </p:nvSpPr>
        <p:spPr>
          <a:xfrm rot="0">
            <a:off x="1028700" y="1744534"/>
            <a:ext cx="15700092" cy="6246495"/>
          </a:xfrm>
          <a:prstGeom prst="rect">
            <a:avLst/>
          </a:prstGeom>
        </p:spPr>
        <p:txBody>
          <a:bodyPr anchor="t" rtlCol="false" tIns="0" lIns="0" bIns="0" rIns="0">
            <a:spAutoFit/>
          </a:bodyPr>
          <a:lstStyle/>
          <a:p>
            <a:pPr algn="l" marL="647700" indent="-323850" lvl="1">
              <a:lnSpc>
                <a:spcPts val="6240"/>
              </a:lnSpc>
              <a:buAutoNum type="arabicPeriod" startAt="1"/>
            </a:pPr>
            <a:r>
              <a:rPr lang="en-US" b="true" sz="3000">
                <a:solidFill>
                  <a:srgbClr val="000000"/>
                </a:solidFill>
                <a:latin typeface="Inter Bold"/>
                <a:ea typeface="Inter Bold"/>
                <a:cs typeface="Inter Bold"/>
                <a:sym typeface="Inter Bold"/>
              </a:rPr>
              <a:t>Pipeline giảm về số lượng nhưng tăng về giá trị </a:t>
            </a:r>
          </a:p>
          <a:p>
            <a:pPr algn="l">
              <a:lnSpc>
                <a:spcPts val="6240"/>
              </a:lnSpc>
            </a:pPr>
            <a:r>
              <a:rPr lang="en-US" sz="3000">
                <a:solidFill>
                  <a:srgbClr val="000000"/>
                </a:solidFill>
                <a:latin typeface="Inter"/>
                <a:ea typeface="Inter"/>
                <a:cs typeface="Inter"/>
                <a:sym typeface="Inter"/>
              </a:rPr>
              <a:t>=&gt; Tập trung chăm sóc kỹ các deal giá trị cao, tránh để mất cơ hội trọng yếu.</a:t>
            </a:r>
          </a:p>
          <a:p>
            <a:pPr algn="l" marL="647700" indent="-323850" lvl="1">
              <a:lnSpc>
                <a:spcPts val="6240"/>
              </a:lnSpc>
              <a:buAutoNum type="arabicPeriod" startAt="1"/>
            </a:pPr>
            <a:r>
              <a:rPr lang="en-US" b="true" sz="3000">
                <a:solidFill>
                  <a:srgbClr val="000000"/>
                </a:solidFill>
                <a:latin typeface="Inter Bold"/>
                <a:ea typeface="Inter Bold"/>
                <a:cs typeface="Inter Bold"/>
                <a:sym typeface="Inter Bold"/>
              </a:rPr>
              <a:t>Pipeline tập trung ở giai đoạn Initial Contact</a:t>
            </a:r>
          </a:p>
          <a:p>
            <a:pPr algn="l">
              <a:lnSpc>
                <a:spcPts val="6240"/>
              </a:lnSpc>
            </a:pPr>
            <a:r>
              <a:rPr lang="en-US" sz="3000">
                <a:solidFill>
                  <a:srgbClr val="000000"/>
                </a:solidFill>
                <a:latin typeface="Inter"/>
                <a:ea typeface="Inter"/>
                <a:cs typeface="Inter"/>
                <a:sym typeface="Inter"/>
              </a:rPr>
              <a:t>=&gt; Đẩy nhanh hoạt động follow-up, tăng tốc độ chuyển khách hàng từ “Initial Contact” sang giai đoạn sâu hơn.</a:t>
            </a:r>
          </a:p>
          <a:p>
            <a:pPr algn="l" marL="647700" indent="-323850" lvl="1">
              <a:lnSpc>
                <a:spcPts val="6240"/>
              </a:lnSpc>
              <a:buAutoNum type="arabicPeriod" startAt="1"/>
            </a:pPr>
            <a:r>
              <a:rPr lang="en-US" b="true" sz="3000">
                <a:solidFill>
                  <a:srgbClr val="000000"/>
                </a:solidFill>
                <a:latin typeface="Inter Bold"/>
                <a:ea typeface="Inter Bold"/>
                <a:cs typeface="Inter Bold"/>
                <a:sym typeface="Inter Bold"/>
              </a:rPr>
              <a:t>Chất lượng pipeline chưa ổn định – nhiều deal xác suất thấp</a:t>
            </a:r>
          </a:p>
          <a:p>
            <a:pPr algn="l">
              <a:lnSpc>
                <a:spcPts val="6240"/>
              </a:lnSpc>
            </a:pPr>
            <a:r>
              <a:rPr lang="en-US" sz="3000">
                <a:solidFill>
                  <a:srgbClr val="000000"/>
                </a:solidFill>
                <a:latin typeface="Inter"/>
                <a:ea typeface="Inter"/>
                <a:cs typeface="Inter"/>
                <a:sym typeface="Inter"/>
              </a:rPr>
              <a:t>=&gt; Tái phân bổ nguồn lực cho nhóm deal có xác suất 41–60%, đồng thời tăng cường tìm kiếm khách hàng high-confidence.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966201" y="9351937"/>
            <a:ext cx="3674431" cy="1173235"/>
          </a:xfrm>
          <a:custGeom>
            <a:avLst/>
            <a:gdLst/>
            <a:ahLst/>
            <a:cxnLst/>
            <a:rect r="r" b="b" t="t" l="l"/>
            <a:pathLst>
              <a:path h="1173235" w="3674431">
                <a:moveTo>
                  <a:pt x="0" y="0"/>
                </a:moveTo>
                <a:lnTo>
                  <a:pt x="3674431" y="0"/>
                </a:lnTo>
                <a:lnTo>
                  <a:pt x="3674431" y="1173235"/>
                </a:lnTo>
                <a:lnTo>
                  <a:pt x="0" y="1173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TextBox 5" id="5"/>
          <p:cNvSpPr txBox="true"/>
          <p:nvPr/>
        </p:nvSpPr>
        <p:spPr>
          <a:xfrm rot="0">
            <a:off x="197844" y="382806"/>
            <a:ext cx="6332063" cy="586842"/>
          </a:xfrm>
          <a:prstGeom prst="rect">
            <a:avLst/>
          </a:prstGeom>
        </p:spPr>
        <p:txBody>
          <a:bodyPr anchor="t" rtlCol="false" tIns="0" lIns="0" bIns="0" rIns="0">
            <a:spAutoFit/>
          </a:bodyPr>
          <a:lstStyle/>
          <a:p>
            <a:pPr algn="just">
              <a:lnSpc>
                <a:spcPts val="4291"/>
              </a:lnSpc>
            </a:pPr>
            <a:r>
              <a:rPr lang="en-US" b="true" sz="4614" spc="-341">
                <a:solidFill>
                  <a:srgbClr val="000000"/>
                </a:solidFill>
                <a:latin typeface="Inter Bold"/>
                <a:ea typeface="Inter Bold"/>
                <a:cs typeface="Inter Bold"/>
                <a:sym typeface="Inter Bold"/>
              </a:rPr>
              <a:t>Executive Summary</a:t>
            </a:r>
          </a:p>
        </p:txBody>
      </p:sp>
      <p:sp>
        <p:nvSpPr>
          <p:cNvPr name="TextBox 6" id="6"/>
          <p:cNvSpPr txBox="true"/>
          <p:nvPr/>
        </p:nvSpPr>
        <p:spPr>
          <a:xfrm rot="0">
            <a:off x="1028700" y="1744534"/>
            <a:ext cx="15700092" cy="6246495"/>
          </a:xfrm>
          <a:prstGeom prst="rect">
            <a:avLst/>
          </a:prstGeom>
        </p:spPr>
        <p:txBody>
          <a:bodyPr anchor="t" rtlCol="false" tIns="0" lIns="0" bIns="0" rIns="0">
            <a:spAutoFit/>
          </a:bodyPr>
          <a:lstStyle/>
          <a:p>
            <a:pPr algn="l" marL="647700" indent="-323850" lvl="1">
              <a:lnSpc>
                <a:spcPts val="6240"/>
              </a:lnSpc>
              <a:buAutoNum type="arabicPeriod" startAt="1"/>
            </a:pPr>
            <a:r>
              <a:rPr lang="en-US" b="true" sz="3000">
                <a:solidFill>
                  <a:srgbClr val="000000"/>
                </a:solidFill>
                <a:latin typeface="Inter Bold"/>
                <a:ea typeface="Inter Bold"/>
                <a:cs typeface="Inter Bold"/>
                <a:sym typeface="Inter Bold"/>
              </a:rPr>
              <a:t>Hiệu quả bán hàng giảm mạnh trong tháng gần nhất</a:t>
            </a:r>
          </a:p>
          <a:p>
            <a:pPr algn="l">
              <a:lnSpc>
                <a:spcPts val="6240"/>
              </a:lnSpc>
            </a:pPr>
            <a:r>
              <a:rPr lang="en-US" sz="3000">
                <a:solidFill>
                  <a:srgbClr val="000000"/>
                </a:solidFill>
                <a:latin typeface="Inter"/>
                <a:ea typeface="Inter"/>
                <a:cs typeface="Inter"/>
                <a:sym typeface="Inter"/>
              </a:rPr>
              <a:t>=&gt; Phân tích nguyên nhân giảm chất lượng deal, đào tạo và hỗ trợ các owner có đóng góp thấp để giảm sự phụ thuộc vào cá nhân.</a:t>
            </a:r>
          </a:p>
          <a:p>
            <a:pPr algn="l" marL="647700" indent="-323850" lvl="1">
              <a:lnSpc>
                <a:spcPts val="6240"/>
              </a:lnSpc>
              <a:buAutoNum type="arabicPeriod" startAt="1"/>
            </a:pPr>
            <a:r>
              <a:rPr lang="en-US" b="true" sz="3000">
                <a:solidFill>
                  <a:srgbClr val="000000"/>
                </a:solidFill>
                <a:latin typeface="Inter Bold"/>
                <a:ea typeface="Inter Bold"/>
                <a:cs typeface="Inter Bold"/>
                <a:sym typeface="Inter Bold"/>
              </a:rPr>
              <a:t>Khách hàng lớn có churn rate cao nhất</a:t>
            </a:r>
          </a:p>
          <a:p>
            <a:pPr algn="l">
              <a:lnSpc>
                <a:spcPts val="6240"/>
              </a:lnSpc>
            </a:pPr>
            <a:r>
              <a:rPr lang="en-US" sz="3000">
                <a:solidFill>
                  <a:srgbClr val="000000"/>
                </a:solidFill>
                <a:latin typeface="Inter"/>
                <a:ea typeface="Inter"/>
                <a:cs typeface="Inter"/>
                <a:sym typeface="Inter"/>
              </a:rPr>
              <a:t>=&gt; Ưu tiên chương trình giữ chân khách hàng lớn, triển khai khảo sát nguyên nhân churn và xây dựng kế hoạch chăm sóc chuyên biệt.</a:t>
            </a:r>
          </a:p>
          <a:p>
            <a:pPr algn="l">
              <a:lnSpc>
                <a:spcPts val="6240"/>
              </a:lnSpc>
            </a:pPr>
          </a:p>
          <a:p>
            <a:pPr algn="l">
              <a:lnSpc>
                <a:spcPts val="624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AutoShape 3" id="3"/>
          <p:cNvSpPr/>
          <p:nvPr/>
        </p:nvSpPr>
        <p:spPr>
          <a:xfrm flipV="true">
            <a:off x="-306241" y="1194911"/>
            <a:ext cx="18900482" cy="0"/>
          </a:xfrm>
          <a:prstGeom prst="line">
            <a:avLst/>
          </a:prstGeom>
          <a:ln cap="flat" w="19050">
            <a:solidFill>
              <a:srgbClr val="0179B6"/>
            </a:solidFill>
            <a:prstDash val="solid"/>
            <a:headEnd type="none" len="sm" w="sm"/>
            <a:tailEnd type="none" len="sm" w="sm"/>
          </a:ln>
        </p:spPr>
      </p:sp>
      <p:sp>
        <p:nvSpPr>
          <p:cNvPr name="Freeform 4" id="4"/>
          <p:cNvSpPr/>
          <p:nvPr/>
        </p:nvSpPr>
        <p:spPr>
          <a:xfrm flipH="false" flipV="false" rot="0">
            <a:off x="567220" y="439320"/>
            <a:ext cx="548421" cy="273213"/>
          </a:xfrm>
          <a:custGeom>
            <a:avLst/>
            <a:gdLst/>
            <a:ahLst/>
            <a:cxnLst/>
            <a:rect r="r" b="b" t="t" l="l"/>
            <a:pathLst>
              <a:path h="273213" w="548421">
                <a:moveTo>
                  <a:pt x="0" y="0"/>
                </a:moveTo>
                <a:lnTo>
                  <a:pt x="548421" y="0"/>
                </a:lnTo>
                <a:lnTo>
                  <a:pt x="548421" y="273213"/>
                </a:lnTo>
                <a:lnTo>
                  <a:pt x="0" y="2732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581773" y="402247"/>
            <a:ext cx="347360" cy="347360"/>
          </a:xfrm>
          <a:custGeom>
            <a:avLst/>
            <a:gdLst/>
            <a:ahLst/>
            <a:cxnLst/>
            <a:rect r="r" b="b" t="t" l="l"/>
            <a:pathLst>
              <a:path h="347360" w="347360">
                <a:moveTo>
                  <a:pt x="0" y="0"/>
                </a:moveTo>
                <a:lnTo>
                  <a:pt x="347360" y="0"/>
                </a:lnTo>
                <a:lnTo>
                  <a:pt x="347360" y="347360"/>
                </a:lnTo>
                <a:lnTo>
                  <a:pt x="0" y="3473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353892" y="7222390"/>
            <a:ext cx="3674431" cy="1173235"/>
          </a:xfrm>
          <a:custGeom>
            <a:avLst/>
            <a:gdLst/>
            <a:ahLst/>
            <a:cxnLst/>
            <a:rect r="r" b="b" t="t" l="l"/>
            <a:pathLst>
              <a:path h="1173235" w="3674431">
                <a:moveTo>
                  <a:pt x="0" y="0"/>
                </a:moveTo>
                <a:lnTo>
                  <a:pt x="3674430" y="0"/>
                </a:lnTo>
                <a:lnTo>
                  <a:pt x="3674430" y="1173235"/>
                </a:lnTo>
                <a:lnTo>
                  <a:pt x="0" y="11732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319161" y="2056528"/>
            <a:ext cx="3674431" cy="1173235"/>
          </a:xfrm>
          <a:custGeom>
            <a:avLst/>
            <a:gdLst/>
            <a:ahLst/>
            <a:cxnLst/>
            <a:rect r="r" b="b" t="t" l="l"/>
            <a:pathLst>
              <a:path h="1173235" w="3674431">
                <a:moveTo>
                  <a:pt x="0" y="0"/>
                </a:moveTo>
                <a:lnTo>
                  <a:pt x="3674431" y="0"/>
                </a:lnTo>
                <a:lnTo>
                  <a:pt x="3674431" y="1173234"/>
                </a:lnTo>
                <a:lnTo>
                  <a:pt x="0" y="11732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335158" y="2656603"/>
            <a:ext cx="13617684" cy="5749605"/>
          </a:xfrm>
          <a:prstGeom prst="rect">
            <a:avLst/>
          </a:prstGeom>
        </p:spPr>
        <p:txBody>
          <a:bodyPr anchor="t" rtlCol="false" tIns="0" lIns="0" bIns="0" rIns="0">
            <a:spAutoFit/>
          </a:bodyPr>
          <a:lstStyle/>
          <a:p>
            <a:pPr algn="ctr">
              <a:lnSpc>
                <a:spcPts val="21863"/>
              </a:lnSpc>
            </a:pPr>
            <a:r>
              <a:rPr lang="en-US" b="true" sz="23509" spc="-1739">
                <a:solidFill>
                  <a:srgbClr val="000000"/>
                </a:solidFill>
                <a:latin typeface="Inter Bold"/>
                <a:ea typeface="Inter Bold"/>
                <a:cs typeface="Inter Bold"/>
                <a:sym typeface="Inter Bold"/>
              </a:rPr>
              <a:t>THANK YOU</a:t>
            </a:r>
          </a:p>
        </p:txBody>
      </p:sp>
      <p:sp>
        <p:nvSpPr>
          <p:cNvPr name="Freeform 9" id="9"/>
          <p:cNvSpPr/>
          <p:nvPr/>
        </p:nvSpPr>
        <p:spPr>
          <a:xfrm flipH="false" flipV="false" rot="0">
            <a:off x="17448245" y="9423242"/>
            <a:ext cx="267056" cy="267056"/>
          </a:xfrm>
          <a:custGeom>
            <a:avLst/>
            <a:gdLst/>
            <a:ahLst/>
            <a:cxnLst/>
            <a:rect r="r" b="b" t="t" l="l"/>
            <a:pathLst>
              <a:path h="267056" w="267056">
                <a:moveTo>
                  <a:pt x="0" y="0"/>
                </a:moveTo>
                <a:lnTo>
                  <a:pt x="267056" y="0"/>
                </a:lnTo>
                <a:lnTo>
                  <a:pt x="267056" y="267057"/>
                </a:lnTo>
                <a:lnTo>
                  <a:pt x="0" y="2670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8596194" y="6747639"/>
            <a:ext cx="950345" cy="474751"/>
          </a:xfrm>
          <a:custGeom>
            <a:avLst/>
            <a:gdLst/>
            <a:ahLst/>
            <a:cxnLst/>
            <a:rect r="r" b="b" t="t" l="l"/>
            <a:pathLst>
              <a:path h="474751" w="950345">
                <a:moveTo>
                  <a:pt x="0" y="0"/>
                </a:moveTo>
                <a:lnTo>
                  <a:pt x="950345" y="0"/>
                </a:lnTo>
                <a:lnTo>
                  <a:pt x="950345" y="474751"/>
                </a:lnTo>
                <a:lnTo>
                  <a:pt x="0" y="4747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true" flipV="true" rot="0">
            <a:off x="11452396" y="7121782"/>
            <a:ext cx="953521" cy="953521"/>
          </a:xfrm>
          <a:custGeom>
            <a:avLst/>
            <a:gdLst/>
            <a:ahLst/>
            <a:cxnLst/>
            <a:rect r="r" b="b" t="t" l="l"/>
            <a:pathLst>
              <a:path h="953521" w="953521">
                <a:moveTo>
                  <a:pt x="953521" y="953521"/>
                </a:moveTo>
                <a:lnTo>
                  <a:pt x="0" y="953521"/>
                </a:lnTo>
                <a:lnTo>
                  <a:pt x="0" y="0"/>
                </a:lnTo>
                <a:lnTo>
                  <a:pt x="953521" y="0"/>
                </a:lnTo>
                <a:lnTo>
                  <a:pt x="953521" y="953521"/>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8427916" y="4064685"/>
            <a:ext cx="1356362" cy="374849"/>
          </a:xfrm>
          <a:custGeom>
            <a:avLst/>
            <a:gdLst/>
            <a:ahLst/>
            <a:cxnLst/>
            <a:rect r="r" b="b" t="t" l="l"/>
            <a:pathLst>
              <a:path h="374849" w="1356362">
                <a:moveTo>
                  <a:pt x="0" y="0"/>
                </a:moveTo>
                <a:lnTo>
                  <a:pt x="1356362" y="0"/>
                </a:lnTo>
                <a:lnTo>
                  <a:pt x="1356362" y="374849"/>
                </a:lnTo>
                <a:lnTo>
                  <a:pt x="0" y="37484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3" id="13"/>
          <p:cNvSpPr/>
          <p:nvPr/>
        </p:nvSpPr>
        <p:spPr>
          <a:xfrm flipH="false" flipV="false" rot="0">
            <a:off x="10809396" y="5523459"/>
            <a:ext cx="546691" cy="1093381"/>
          </a:xfrm>
          <a:custGeom>
            <a:avLst/>
            <a:gdLst/>
            <a:ahLst/>
            <a:cxnLst/>
            <a:rect r="r" b="b" t="t" l="l"/>
            <a:pathLst>
              <a:path h="1093381" w="546691">
                <a:moveTo>
                  <a:pt x="0" y="0"/>
                </a:moveTo>
                <a:lnTo>
                  <a:pt x="546691" y="0"/>
                </a:lnTo>
                <a:lnTo>
                  <a:pt x="546691" y="1093382"/>
                </a:lnTo>
                <a:lnTo>
                  <a:pt x="0" y="10933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4" id="14"/>
          <p:cNvSpPr/>
          <p:nvPr/>
        </p:nvSpPr>
        <p:spPr>
          <a:xfrm flipH="false" flipV="false" rot="-5400000">
            <a:off x="6844811" y="2690923"/>
            <a:ext cx="542287" cy="676703"/>
          </a:xfrm>
          <a:custGeom>
            <a:avLst/>
            <a:gdLst/>
            <a:ahLst/>
            <a:cxnLst/>
            <a:rect r="r" b="b" t="t" l="l"/>
            <a:pathLst>
              <a:path h="676703" w="542287">
                <a:moveTo>
                  <a:pt x="0" y="0"/>
                </a:moveTo>
                <a:lnTo>
                  <a:pt x="542287" y="0"/>
                </a:lnTo>
                <a:lnTo>
                  <a:pt x="542287" y="676703"/>
                </a:lnTo>
                <a:lnTo>
                  <a:pt x="0" y="67670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DAHRZLpsGQE</dc:identifier>
  <dcterms:modified xsi:type="dcterms:W3CDTF">2011-08-01T06:04:30Z</dcterms:modified>
  <cp:revision>1</cp:revision>
  <dc:title>CRM &amp; Sales Pipeline: Insights and Recommendations</dc:title>
</cp:coreProperties>
</file>